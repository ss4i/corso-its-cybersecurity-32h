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M1 — Fondamenti di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M1 — Fondamenti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ore — 3h teoria + 1h lab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Definire </a:t>
            </a:r>
            <a:r>
              <a:rPr b="1"/>
              <a:t>CIA Triad</a:t>
            </a:r>
            <a:r>
              <a:rPr/>
              <a:t> con esempi</a:t>
            </a:r>
          </a:p>
          <a:p>
            <a:pPr lvl="0"/>
            <a:r>
              <a:rPr/>
              <a:t>Distinguere sicurezza </a:t>
            </a:r>
            <a:r>
              <a:rPr b="1"/>
              <a:t>informatica</a:t>
            </a:r>
            <a:r>
              <a:rPr/>
              <a:t> vs </a:t>
            </a:r>
            <a:r>
              <a:rPr b="1"/>
              <a:t>del software</a:t>
            </a:r>
          </a:p>
          <a:p>
            <a:pPr lvl="0"/>
            <a:r>
              <a:rPr/>
              <a:t>Classificare le minacce in 8 categorie</a:t>
            </a:r>
          </a:p>
          <a:p>
            <a:pPr lvl="0"/>
            <a:r>
              <a:rPr/>
              <a:t>Conoscere i </a:t>
            </a:r>
            <a:r>
              <a:rPr b="1"/>
              <a:t>5 principi del Secure Coding</a:t>
            </a:r>
          </a:p>
          <a:p>
            <a:pPr lvl="0"/>
            <a:r>
              <a:rPr/>
              <a:t>Mentalità </a:t>
            </a:r>
            <a:r>
              <a:rPr b="1"/>
              <a:t>avversaria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Sicurezza informatica vs del software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protegge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 chi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Informatica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Rete, server, 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Sistemisti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App, codice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Sviluppatori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Confonderle = errori sistematici “Abbiamo HTTPS, basta” → </a:t>
            </a:r>
            <a:r>
              <a:rPr sz="2000" b="1"/>
              <a:t>falso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CIA Triad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</a:t>
            </a:r>
            <a:r>
              <a:rPr/>
              <a:t> — Confidentiality (riservatezza)</a:t>
            </a:r>
          </a:p>
          <a:p>
            <a:pPr lvl="0"/>
            <a:r>
              <a:rPr b="1"/>
              <a:t>I</a:t>
            </a:r>
            <a:r>
              <a:rPr/>
              <a:t> — Integrity (integrità)</a:t>
            </a:r>
          </a:p>
          <a:p>
            <a:pPr lvl="0"/>
            <a:r>
              <a:rPr b="1"/>
              <a:t>A</a:t>
            </a:r>
            <a:r>
              <a:rPr/>
              <a:t> — Availability (disponibilità)</a:t>
            </a:r>
          </a:p>
          <a:p>
            <a:pPr lvl="0" indent="0" marL="0">
              <a:buNone/>
            </a:pPr>
            <a:r>
              <a:rPr/>
              <a:t>Sono </a:t>
            </a:r>
            <a:r>
              <a:rPr b="1"/>
              <a:t>proprietà</a:t>
            </a:r>
            <a:r>
              <a:rPr/>
              <a:t> del sistema, misurabili e violabili.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 CIA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Proprietà violata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Equifax 2017 (147M record)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Bonifico modificato in transito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WannaCry — ospedali bloccati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 Injection che legge 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3 fratelli (estensione)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Authenticity</a:t>
            </a:r>
            <a:r>
              <a:rPr/>
              <a:t> — sei davvero tu?</a:t>
            </a:r>
          </a:p>
          <a:p>
            <a:pPr lvl="0"/>
            <a:r>
              <a:rPr b="1"/>
              <a:t>Non-repudiation</a:t>
            </a:r>
            <a:r>
              <a:rPr/>
              <a:t> — non puoi negare di aver fatto X</a:t>
            </a:r>
          </a:p>
          <a:p>
            <a:pPr lvl="0"/>
            <a:r>
              <a:rPr b="1"/>
              <a:t>Accountability</a:t>
            </a:r>
            <a:r>
              <a:rPr/>
              <a:t> — audit trail</a:t>
            </a:r>
          </a:p>
          <a:p>
            <a:pPr lvl="0" indent="0" marL="0">
              <a:buNone/>
            </a:pPr>
            <a:r>
              <a:rPr/>
              <a:t>CIA + AAA = framework completo.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Tassonomia minacce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Malware</a:t>
            </a:r>
          </a:p>
          <a:p>
            <a:pPr lvl="0" indent="-342900" marL="342900">
              <a:buAutoNum type="arabicPeriod"/>
            </a:pPr>
            <a:r>
              <a:rPr/>
              <a:t>Phishing / social engineering</a:t>
            </a:r>
          </a:p>
          <a:p>
            <a:pPr lvl="0" indent="-342900" marL="342900">
              <a:buAutoNum type="arabicPeriod"/>
            </a:pPr>
            <a:r>
              <a:rPr/>
              <a:t>Man-in-the-Middle</a:t>
            </a:r>
          </a:p>
          <a:p>
            <a:pPr lvl="0" indent="-342900" marL="342900">
              <a:buAutoNum type="arabicPeriod"/>
            </a:pPr>
            <a:r>
              <a:rPr/>
              <a:t>DoS / DDoS</a:t>
            </a:r>
          </a:p>
          <a:p>
            <a:pPr lvl="0" indent="-342900" marL="342900">
              <a:buAutoNum type="arabicPeriod"/>
            </a:pPr>
            <a:r>
              <a:rPr/>
              <a:t>Web application attacks</a:t>
            </a:r>
          </a:p>
          <a:p>
            <a:pPr lvl="0" indent="-342900" marL="342900">
              <a:buAutoNum type="arabicPeriod"/>
            </a:pPr>
            <a:r>
              <a:rPr/>
              <a:t>Supply chain</a:t>
            </a:r>
          </a:p>
          <a:p>
            <a:pPr lvl="0" indent="-342900" marL="342900">
              <a:buAutoNum type="arabicPeriod"/>
            </a:pPr>
            <a:r>
              <a:rPr/>
              <a:t>Zero-day</a:t>
            </a:r>
          </a:p>
          <a:p>
            <a:pPr lvl="0" indent="-342900" marL="342900">
              <a:buAutoNum type="arabicPeriod"/>
            </a:pPr>
            <a:r>
              <a:rPr/>
              <a:t>Insider threat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Malware in dettaglio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Virus, worm, trojan</a:t>
            </a:r>
          </a:p>
          <a:p>
            <a:pPr lvl="0"/>
            <a:r>
              <a:rPr b="1"/>
              <a:t>Ransomware</a:t>
            </a:r>
            <a:r>
              <a:rPr/>
              <a:t> (WannaCry, Colonial Pipeline)</a:t>
            </a:r>
          </a:p>
          <a:p>
            <a:pPr lvl="0"/>
            <a:r>
              <a:rPr/>
              <a:t>Spyware (Pegasus)</a:t>
            </a:r>
          </a:p>
          <a:p>
            <a:pPr lvl="0"/>
            <a:r>
              <a:rPr/>
              <a:t>Rootkit</a:t>
            </a:r>
          </a:p>
          <a:p>
            <a:pPr lvl="0"/>
            <a:r>
              <a:rPr/>
              <a:t>Botnet</a:t>
            </a:r>
          </a:p>
          <a:p>
            <a:pPr lvl="0" indent="0" marL="1270000">
              <a:buNone/>
            </a:pPr>
            <a:r>
              <a:rPr sz="2000"/>
              <a:t>Difesa: antivirus + EDR + non eseguire allegati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Phishing &amp; 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Phishing standard</a:t>
            </a:r>
          </a:p>
          <a:p>
            <a:pPr lvl="0"/>
            <a:r>
              <a:rPr b="1"/>
              <a:t>Spear phishing</a:t>
            </a:r>
            <a:r>
              <a:rPr/>
              <a:t> (mirato)</a:t>
            </a:r>
          </a:p>
          <a:p>
            <a:pPr lvl="0"/>
            <a:r>
              <a:rPr/>
              <a:t>Whaling (al CEO)</a:t>
            </a:r>
          </a:p>
          <a:p>
            <a:pPr lvl="0"/>
            <a:r>
              <a:rPr/>
              <a:t>Vishing / smishing</a:t>
            </a:r>
          </a:p>
          <a:p>
            <a:pPr lvl="0"/>
            <a:r>
              <a:rPr/>
              <a:t>Pretexting, baiting</a:t>
            </a:r>
          </a:p>
          <a:p>
            <a:pPr lvl="0" indent="0" marL="1270000">
              <a:buNone/>
            </a:pPr>
            <a:r>
              <a:rPr sz="2000"/>
              <a:t>Difesa: </a:t>
            </a:r>
            <a:r>
              <a:rPr sz="2000" b="1"/>
              <a:t>MFA</a:t>
            </a:r>
            <a:r>
              <a:rPr sz="2000"/>
              <a:t> + formazione utenti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MITM, DoS,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MITM</a:t>
            </a:r>
            <a:r>
              <a:rPr/>
              <a:t>: ARP/DNS spoofing, Wi-Fi rogue</a:t>
            </a:r>
          </a:p>
          <a:p>
            <a:pPr lvl="0"/>
            <a:r>
              <a:rPr b="1"/>
              <a:t>DoS/DDoS</a:t>
            </a:r>
            <a:r>
              <a:rPr/>
              <a:t>: saturare risorse o banda</a:t>
            </a:r>
          </a:p>
          <a:p>
            <a:pPr lvl="0"/>
            <a:r>
              <a:rPr b="1"/>
              <a:t>Web App</a:t>
            </a:r>
            <a:r>
              <a:rPr/>
              <a:t>: OWASP Top 10 → cuore di M6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Supply chain &amp; zero-day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SolarWinds 2020</a:t>
            </a:r>
            <a:r>
              <a:rPr/>
              <a:t> — 18.000 vittime</a:t>
            </a:r>
          </a:p>
          <a:p>
            <a:pPr lvl="0"/>
            <a:r>
              <a:rPr b="1"/>
              <a:t>Log4Shell 2021</a:t>
            </a:r>
            <a:r>
              <a:rPr/>
              <a:t> — Internet in panico</a:t>
            </a:r>
          </a:p>
          <a:p>
            <a:pPr lvl="0"/>
            <a:r>
              <a:rPr b="1"/>
              <a:t>XZ Utils 2024</a:t>
            </a:r>
            <a:r>
              <a:rPr/>
              <a:t> — backdoor sfiorata</a:t>
            </a:r>
          </a:p>
          <a:p>
            <a:pPr lvl="0" indent="0" marL="0">
              <a:buNone/>
            </a:pPr>
            <a:r>
              <a:rPr/>
              <a:t>Mercato zero-day: centinaia di migliaia di $ per exploit critici.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1 — Equifax 2017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147M record rubati</a:t>
            </a:r>
          </a:p>
          <a:p>
            <a:pPr lvl="0"/>
            <a:r>
              <a:rPr/>
              <a:t>Causa: Apache Struts CVE-2017-5638 non patchata per 2 mesi</a:t>
            </a:r>
          </a:p>
          <a:p>
            <a:pPr lvl="0"/>
            <a:r>
              <a:rPr/>
              <a:t>Costo: ~$1,4 miliardi</a:t>
            </a:r>
          </a:p>
          <a:p>
            <a:pPr lvl="0"/>
            <a:r>
              <a:rPr b="1"/>
              <a:t>Lezione</a:t>
            </a:r>
            <a:r>
              <a:rPr/>
              <a:t>: patching tempestivo è sicurezza quotidiana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2 — Heartbleed 2014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Bug in OpenSSL</a:t>
            </a:r>
          </a:p>
          <a:p>
            <a:pPr lvl="0"/>
            <a:r>
              <a:rPr/>
              <a:t>Lettura di 64KB memoria server per richiesta</a:t>
            </a:r>
          </a:p>
          <a:p>
            <a:pPr lvl="0"/>
            <a:r>
              <a:rPr/>
              <a:t>~17% dei server HTTPS al mondo</a:t>
            </a:r>
          </a:p>
          <a:p>
            <a:pPr lvl="0"/>
            <a:r>
              <a:rPr b="1"/>
              <a:t>Lezione</a:t>
            </a:r>
            <a:r>
              <a:rPr/>
              <a:t>: una libreria di tutti = SPOF colossale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3 — Target 2013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40M numeri di carta rubati</a:t>
            </a:r>
          </a:p>
          <a:p>
            <a:pPr lvl="0"/>
            <a:r>
              <a:rPr/>
              <a:t>Punto d’ingresso: </a:t>
            </a:r>
            <a:r>
              <a:rPr b="1"/>
              <a:t>un fornitore HVAC</a:t>
            </a:r>
          </a:p>
          <a:p>
            <a:pPr lvl="0"/>
            <a:r>
              <a:rPr b="1"/>
              <a:t>Lezione</a:t>
            </a:r>
            <a:r>
              <a:rPr/>
              <a:t>: il tuo perimetro = perimetro fornitore più debole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4 — SolarWinds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 server compromesso</a:t>
            </a:r>
          </a:p>
          <a:p>
            <a:pPr lvl="0"/>
            <a:r>
              <a:rPr/>
              <a:t>18.000 organizzazioni infettate</a:t>
            </a:r>
          </a:p>
          <a:p>
            <a:pPr lvl="0"/>
            <a:r>
              <a:rPr b="1"/>
              <a:t>Lezione</a:t>
            </a:r>
            <a:r>
              <a:rPr/>
              <a:t>: la firma digitale non basta se la pipeline è bucata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5 — Log4Shell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CVE-2021-44228 in Log4j</a:t>
            </a:r>
          </a:p>
          <a:p>
            <a:pPr lvl="0"/>
            <a:r>
              <a:rPr/>
              <a:t>RCE con un campo User-Agent</a:t>
            </a:r>
          </a:p>
          <a:p>
            <a:pPr lvl="0"/>
            <a:r>
              <a:rPr/>
              <a:t>~10% dei server enterprise</a:t>
            </a:r>
          </a:p>
          <a:p>
            <a:pPr lvl="0"/>
            <a:r>
              <a:rPr b="1"/>
              <a:t>Lezione</a:t>
            </a:r>
            <a:r>
              <a:rPr/>
              <a:t>: meno features = meno superficie di attacco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Mentalità avversaria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Non chiederti: “fa quello che deve fare?” Chiediti: “</a:t>
            </a:r>
            <a:r>
              <a:rPr sz="2000" b="1"/>
              <a:t>cosa fa che non dovrebbe fare?</a:t>
            </a:r>
            <a:r>
              <a:rPr sz="2000"/>
              <a:t>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Esempio — un form di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"/login"</a:t>
            </a:r>
            <a:r>
              <a:rPr>
                <a:latin typeface="Courier"/>
              </a:rPr>
              <a:t>, methods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"POST"</a:t>
            </a:r>
            <a:r>
              <a:rPr>
                <a:latin typeface="Courier"/>
              </a:rPr>
              <a:t>])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login():</a:t>
            </a:r>
            <a:br/>
            <a:r>
              <a:rPr>
                <a:latin typeface="Courier"/>
              </a:rPr>
              <a:t>   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User.query.filter_by(</a:t>
            </a:r>
            <a:br/>
            <a:r>
              <a:rPr>
                <a:latin typeface="Courier"/>
              </a:rPr>
              <a:t>        username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request.form[</a:t>
            </a:r>
            <a:r>
              <a:rPr>
                <a:solidFill>
                  <a:srgbClr val="4070A0"/>
                </a:solidFill>
                <a:latin typeface="Courier"/>
              </a:rPr>
              <a:t>"username"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).first()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user.password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request.form[</a:t>
            </a:r>
            <a:r>
              <a:rPr>
                <a:solidFill>
                  <a:srgbClr val="4070A0"/>
                </a:solidFill>
                <a:latin typeface="Courier"/>
              </a:rPr>
              <a:t>"password"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...</a:t>
            </a:r>
          </a:p>
          <a:p>
            <a:pPr lvl="0" indent="0" marL="0">
              <a:buNone/>
            </a:pPr>
            <a:r>
              <a:rPr/>
              <a:t>7 attacchi possibili in 2 minuti. Ne troverai quanti?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5 Principi del Secure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Least Privilege</a:t>
            </a:r>
            <a:r>
              <a:rPr/>
              <a:t> — solo ciò che serve</a:t>
            </a:r>
          </a:p>
          <a:p>
            <a:pPr lvl="0" indent="-342900" marL="342900">
              <a:buAutoNum type="arabicPeriod"/>
            </a:pPr>
            <a:r>
              <a:rPr b="1"/>
              <a:t>Defense in Depth</a:t>
            </a:r>
            <a:r>
              <a:rPr/>
              <a:t> — più strati indipendenti</a:t>
            </a:r>
          </a:p>
          <a:p>
            <a:pPr lvl="0" indent="-342900" marL="342900">
              <a:buAutoNum type="arabicPeriod"/>
            </a:pPr>
            <a:r>
              <a:rPr b="1"/>
              <a:t>Fail Secure</a:t>
            </a:r>
            <a:r>
              <a:rPr/>
              <a:t> — se si rompe, chiude</a:t>
            </a:r>
          </a:p>
          <a:p>
            <a:pPr lvl="0" indent="-342900" marL="342900">
              <a:buAutoNum type="arabicPeriod"/>
            </a:pPr>
            <a:r>
              <a:rPr b="1"/>
              <a:t>KISS</a:t>
            </a:r>
            <a:r>
              <a:rPr/>
              <a:t> — meno è più</a:t>
            </a:r>
          </a:p>
          <a:p>
            <a:pPr lvl="0" indent="-342900" marL="342900">
              <a:buAutoNum type="arabicPeriod"/>
            </a:pPr>
            <a:r>
              <a:rPr b="1"/>
              <a:t>Separation of Duties</a:t>
            </a:r>
            <a:r>
              <a:rPr/>
              <a:t> — mai uno solo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Anti-pattern dei 5 principi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Principio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Anti-pattern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Least Privilege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che gira come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Defense in Depth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“Abbiamo HTTPS, basta”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 Secure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try/except</a:t>
                      </a:r>
                      <a:r>
                        <a:rPr/>
                        <a:t> che ignora errori auth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Log4j → JNDI → RCE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Separation of Duties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Stesso utente DB dev e prod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M1 — “Cosa è andato storto?”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coppie, scegli </a:t>
            </a:r>
            <a:r>
              <a:rPr b="1"/>
              <a:t>1 caso reale</a:t>
            </a:r>
            <a:r>
              <a:rPr/>
              <a:t>: - Riassunto in 3-4 righe - CIA violata? - Categoria minaccia? - Principio Secure Coding ignorato? - 1 misura tecnica concreta che avrebbe evitato</a:t>
            </a:r>
          </a:p>
          <a:p>
            <a:pPr lvl="0" indent="0" marL="0">
              <a:buNone/>
            </a:pPr>
            <a:r>
              <a:rPr/>
              <a:t>Discussione collettiva.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M2 — Networking &amp; ISO/OSI (6h)</a:t>
            </a:r>
          </a:p>
          <a:p>
            <a:pPr lvl="0" indent="0" marL="0">
              <a:buNone/>
            </a:pPr>
            <a:r>
              <a:rPr/>
              <a:t>Adesso vediamo </a:t>
            </a:r>
            <a:r>
              <a:rPr b="1"/>
              <a:t>come</a:t>
            </a:r>
            <a:r>
              <a:rPr/>
              <a:t> un attaccante arriva fino al codice.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— Fondamenti di Cybersecurity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