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3" Type="http://schemas.openxmlformats.org/officeDocument/2006/relationships/viewProps" Target="viewProps.xml" /><Relationship Id="rId3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5" Type="http://schemas.openxmlformats.org/officeDocument/2006/relationships/tableStyles" Target="tableStyles.xml" /><Relationship Id="rId3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M2 — Networking &amp; ISO/OSI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Corso ITS Cybersecurity (32h)</a:t>
            </a:r>
            <a:br/>
            <a:br/>
            <a:r>
              <a:rPr/>
              <a:t>Ing. Alessandro Manneschi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ITS Prodigi · ITS Empoli · SS4I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M2 — Networking &amp; ISO/OSI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 ore — 3h teoria + 3h lab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Obiettivi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Stack ISO/OSI vs TCP/IP</a:t>
            </a:r>
          </a:p>
          <a:p>
            <a:pPr lvl="0"/>
            <a:r>
              <a:rPr/>
              <a:t>Vulnerabilità per ogni livello</a:t>
            </a:r>
          </a:p>
          <a:p>
            <a:pPr lvl="0"/>
            <a:r>
              <a:rPr b="1"/>
              <a:t>Wireshark</a:t>
            </a:r>
            <a:r>
              <a:rPr/>
              <a:t> in pratica</a:t>
            </a:r>
          </a:p>
          <a:p>
            <a:pPr lvl="0"/>
            <a:r>
              <a:rPr/>
              <a:t>Python: socket, port scanner, scapy</a:t>
            </a:r>
          </a:p>
          <a:p>
            <a:pPr lvl="0"/>
            <a:r>
              <a:rPr/>
              <a:t>Avviso legale: sniffing su reti non proprie = reato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L’analogia postale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Tu scrivi la </a:t>
            </a:r>
            <a:r>
              <a:rPr b="1"/>
              <a:t>lettera</a:t>
            </a:r>
            <a:r>
              <a:rPr/>
              <a:t> (= app)</a:t>
            </a:r>
          </a:p>
          <a:p>
            <a:pPr lvl="0"/>
            <a:r>
              <a:rPr/>
              <a:t>La metti in </a:t>
            </a:r>
            <a:r>
              <a:rPr b="1"/>
              <a:t>busta</a:t>
            </a:r>
            <a:r>
              <a:rPr/>
              <a:t> con mittente/destinatario (= IP)</a:t>
            </a:r>
          </a:p>
          <a:p>
            <a:pPr lvl="0"/>
            <a:r>
              <a:rPr/>
              <a:t>Le poste fanno </a:t>
            </a:r>
            <a:r>
              <a:rPr b="1"/>
              <a:t>smistamento</a:t>
            </a:r>
            <a:r>
              <a:rPr/>
              <a:t> (= router)</a:t>
            </a:r>
          </a:p>
          <a:p>
            <a:pPr lvl="0"/>
            <a:r>
              <a:rPr/>
              <a:t>Camion / aereo / postino (= livelli sotto)</a:t>
            </a:r>
          </a:p>
          <a:p>
            <a:pPr lvl="0" indent="0" marL="0">
              <a:buNone/>
            </a:pPr>
            <a:r>
              <a:rPr/>
              <a:t>Ogni livello fa il suo pezzo. Non sa cosa fanno gli altri.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ISO/OSI — i 7 livelli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Esempi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Application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HTTP, FTP, DNS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Presentation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TLS, JSON, ASCII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RPC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TCP, UDP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IP, ICMP, ARP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Link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Ethernet, Wi-Fi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Physical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Cavi, fibra, radio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TCP/IP — modello pratico (4 livelli)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TCP/IP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OSI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Application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5+6+7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Internet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 Access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1+2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ISO/OSI = mappa concettuale. TCP/IP = realtà.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Incapsulamento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HTTP request           ← Livello 7
  ↓
TLS encrypted          ← Livello 6
  ↓
TCP segment (port 443) ← Livello 4
  ↓
IP packet (dst IP)     ← Livello 3
  ↓
Ethernet frame (MAC)   ← Livello 2
  ↓
Bit elettrici          ← Livello 1</a:t>
            </a:r>
          </a:p>
          <a:p>
            <a:pPr lvl="0" indent="0" marL="0">
              <a:buNone/>
            </a:pPr>
            <a:r>
              <a:rPr/>
              <a:t>Ogni livello aggiunge un header.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Livello 1-2 — Fisico e Data 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MAC address</a:t>
            </a:r>
            <a:r>
              <a:rPr/>
              <a:t>: 48 bit, fisso, per scheda di rete</a:t>
            </a:r>
          </a:p>
          <a:p>
            <a:pPr lvl="0"/>
            <a:r>
              <a:rPr b="1"/>
              <a:t>Frame Ethernet</a:t>
            </a:r>
            <a:r>
              <a:rPr/>
              <a:t>: busta L2 con MAC src/dst + payload</a:t>
            </a:r>
          </a:p>
          <a:p>
            <a:pPr lvl="0"/>
            <a:r>
              <a:rPr b="1"/>
              <a:t>Switch</a:t>
            </a:r>
            <a:r>
              <a:rPr/>
              <a:t>: inoltra per MAC</a:t>
            </a:r>
          </a:p>
          <a:p>
            <a:pPr lvl="0"/>
            <a:r>
              <a:rPr b="1"/>
              <a:t>Vulnerabilità</a:t>
            </a:r>
            <a:r>
              <a:rPr/>
              <a:t>: MAC spoofing, MAC flooding, VLAN hopping</a:t>
            </a:r>
          </a:p>
          <a:p>
            <a:pPr lvl="0"/>
            <a:r>
              <a:rPr b="1"/>
              <a:t>Difesa</a:t>
            </a:r>
            <a:r>
              <a:rPr/>
              <a:t>: port security, DAI, 802.1X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ARP — IP → MAC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Hai l’IP, ti serve il MAC</a:t>
            </a:r>
          </a:p>
          <a:p>
            <a:pPr lvl="0"/>
            <a:r>
              <a:rPr/>
              <a:t>ARP request in </a:t>
            </a:r>
            <a:r>
              <a:rPr b="1"/>
              <a:t>broadcast</a:t>
            </a:r>
            <a:r>
              <a:rPr/>
              <a:t>: “chi ha 192.168.1.10?”</a:t>
            </a:r>
          </a:p>
          <a:p>
            <a:pPr lvl="0"/>
            <a:r>
              <a:rPr/>
              <a:t>Solo lui risponde con il proprio MAC</a:t>
            </a:r>
          </a:p>
          <a:p>
            <a:pPr lvl="0"/>
            <a:r>
              <a:rPr/>
              <a:t>Cache locale: </a:t>
            </a:r>
            <a:r>
              <a:rPr>
                <a:latin typeface="Courier"/>
              </a:rPr>
              <a:t>arp -a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ARP Spoofing (= MITM)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ARP </a:t>
            </a:r>
            <a:r>
              <a:rPr b="1"/>
              <a:t>non ha autenticazione</a:t>
            </a:r>
          </a:p>
          <a:p>
            <a:pPr lvl="0"/>
            <a:r>
              <a:rPr/>
              <a:t>Attaccante invia ARP non richiesti dicendo “il gateway sono io”</a:t>
            </a:r>
          </a:p>
          <a:p>
            <a:pPr lvl="0"/>
            <a:r>
              <a:rPr/>
              <a:t>Vittima ci crede → traffico passa dall’attaccante</a:t>
            </a:r>
          </a:p>
          <a:p>
            <a:pPr lvl="0"/>
            <a:r>
              <a:rPr b="1"/>
              <a:t>Tool</a:t>
            </a:r>
            <a:r>
              <a:rPr/>
              <a:t>: ettercap, bettercap</a:t>
            </a:r>
          </a:p>
          <a:p>
            <a:pPr lvl="0" indent="0" marL="1270000">
              <a:buNone/>
            </a:pPr>
            <a:r>
              <a:rPr sz="2000"/>
              <a:t>Difesa: ARP statico, DAI, </a:t>
            </a:r>
            <a:r>
              <a:rPr sz="2000" b="1"/>
              <a:t>HTTPS ovunque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Livello 3 — IP, ICMP,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IPv4</a:t>
            </a:r>
            <a:r>
              <a:rPr/>
              <a:t>: 32 bit (~4 miliardi)</a:t>
            </a:r>
          </a:p>
          <a:p>
            <a:pPr lvl="0"/>
            <a:r>
              <a:rPr b="1"/>
              <a:t>IPv6</a:t>
            </a:r>
            <a:r>
              <a:rPr/>
              <a:t>: 128 bit (per il futuro)</a:t>
            </a:r>
          </a:p>
          <a:p>
            <a:pPr lvl="0"/>
            <a:r>
              <a:rPr/>
              <a:t>IP privati: 10.x, 172.16-31.x, 192.168.x</a:t>
            </a:r>
          </a:p>
          <a:p>
            <a:pPr lvl="0"/>
            <a:r>
              <a:rPr b="1"/>
              <a:t>NAT</a:t>
            </a:r>
            <a:r>
              <a:rPr/>
              <a:t>: traduce privato↔pubblico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Vulnerabilità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IP spoofing</a:t>
            </a:r>
            <a:r>
              <a:rPr/>
              <a:t>: mittente falsificato</a:t>
            </a:r>
          </a:p>
          <a:p>
            <a:pPr lvl="0"/>
            <a:r>
              <a:rPr b="1"/>
              <a:t>ICMP flood / Ping of Death</a:t>
            </a:r>
          </a:p>
          <a:p>
            <a:pPr lvl="0"/>
            <a:r>
              <a:rPr b="1"/>
              <a:t>Smurf attack</a:t>
            </a:r>
            <a:r>
              <a:rPr/>
              <a:t>: ping con broadcast + IP vittima spoofato</a:t>
            </a:r>
          </a:p>
          <a:p>
            <a:pPr lvl="0"/>
            <a:r>
              <a:rPr b="1"/>
              <a:t>Tear drop</a:t>
            </a:r>
            <a:r>
              <a:rPr/>
              <a:t>: pacchetti frammentati malformati</a:t>
            </a:r>
          </a:p>
          <a:p>
            <a:pPr lvl="0" indent="0" marL="1270000">
              <a:buNone/>
            </a:pPr>
            <a:r>
              <a:rPr sz="2000"/>
              <a:t>Difese: firewall, reverse path filtering, rate limit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Livello 4 — Trasporto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UDP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Connessione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Sì (handshake)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Affidabilità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Ordine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Velocità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Lenta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Veloce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Casi d’uso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HTTP, SSH, FTP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DNS, VoIP, gaming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Three-way handshake TCP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Client                       Server
  ── SYN ───►
              ◄── SYN-ACK ──
  ── ACK ───►
   ═══ Connessione stabilita ═══</a:t>
            </a:r>
          </a:p>
          <a:p>
            <a:pPr lvl="0" indent="0" marL="0">
              <a:buNone/>
            </a:pPr>
            <a:r>
              <a:rPr/>
              <a:t>3 messaggi e si parte. </a:t>
            </a:r>
            <a:r>
              <a:rPr b="1"/>
              <a:t>Lo vedrete in Wireshark</a:t>
            </a:r>
            <a:r>
              <a:rPr/>
              <a:t>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 porte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0–1023: well-known (22 SSH, 80 HTTP, 443 HTTPS)</a:t>
            </a:r>
          </a:p>
          <a:p>
            <a:pPr lvl="0"/>
            <a:r>
              <a:rPr/>
              <a:t>1024–49151: registered</a:t>
            </a:r>
          </a:p>
          <a:p>
            <a:pPr lvl="0"/>
            <a:r>
              <a:rPr/>
              <a:t>49152–65535: dynamic (client effemere)</a:t>
            </a:r>
          </a:p>
          <a:p>
            <a:pPr lvl="0" indent="0" marL="1270000">
              <a:buNone/>
            </a:pPr>
            <a:r>
              <a:rPr sz="2000"/>
              <a:t>Fingerprinting: porta aperta + banner = versione software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Vulnerabilità L4 (TCP)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Port scanning</a:t>
            </a:r>
            <a:r>
              <a:rPr/>
              <a:t> (nmap, base ricognizione)</a:t>
            </a:r>
          </a:p>
          <a:p>
            <a:pPr lvl="0"/>
            <a:r>
              <a:rPr b="1"/>
              <a:t>SYN flood</a:t>
            </a:r>
            <a:r>
              <a:rPr/>
              <a:t> (DoS — il server riserva risorse)</a:t>
            </a:r>
          </a:p>
          <a:p>
            <a:pPr lvl="0"/>
            <a:r>
              <a:rPr b="1"/>
              <a:t>TCP hijacking</a:t>
            </a:r>
            <a:r>
              <a:rPr/>
              <a:t> (raro grazie a seq randomizzati)</a:t>
            </a:r>
          </a:p>
          <a:p>
            <a:pPr lvl="0"/>
            <a:r>
              <a:rPr b="1"/>
              <a:t>TCP reset attacks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Vulnerabilità L4 (UDP)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UDP flood</a:t>
            </a:r>
            <a:r>
              <a:rPr/>
              <a:t> (no handshake = facile DoS)</a:t>
            </a:r>
          </a:p>
          <a:p>
            <a:pPr lvl="0"/>
            <a:r>
              <a:rPr b="1"/>
              <a:t>DNS amplification</a:t>
            </a:r>
            <a:r>
              <a:rPr/>
              <a:t> (50-100x amplification)</a:t>
            </a:r>
          </a:p>
          <a:p>
            <a:pPr lvl="0"/>
            <a:r>
              <a:rPr b="1"/>
              <a:t>NTP amplification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Livelli 5-7 — sopra il trasporto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DNS</a:t>
            </a:r>
            <a:r>
              <a:rPr/>
              <a:t> (UDP/53): traduce nomi → IP</a:t>
            </a:r>
          </a:p>
          <a:p>
            <a:pPr lvl="0"/>
            <a:r>
              <a:rPr b="1"/>
              <a:t>TLS</a:t>
            </a:r>
            <a:r>
              <a:rPr/>
              <a:t>: cifra dati di livello applicativo</a:t>
            </a:r>
          </a:p>
          <a:p>
            <a:pPr lvl="0"/>
            <a:r>
              <a:rPr b="1"/>
              <a:t>HTTP</a:t>
            </a:r>
            <a:r>
              <a:rPr/>
              <a:t>: cuore del web (M3)</a:t>
            </a:r>
          </a:p>
          <a:p>
            <a:pPr lvl="0"/>
            <a:r>
              <a:rPr b="1"/>
              <a:t>SMTP/IMAP</a:t>
            </a:r>
            <a:r>
              <a:rPr/>
              <a:t>: email</a:t>
            </a:r>
          </a:p>
          <a:p>
            <a:pPr lvl="0"/>
            <a:r>
              <a:rPr b="1"/>
              <a:t>SSH</a:t>
            </a:r>
            <a:r>
              <a:rPr/>
              <a:t>: shell remota cifrata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Vulnerabilità DNS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DNS spoofing / cache poisoning</a:t>
            </a:r>
          </a:p>
          <a:p>
            <a:pPr lvl="0"/>
            <a:r>
              <a:rPr b="1"/>
              <a:t>DNS hijacking</a:t>
            </a:r>
          </a:p>
          <a:p>
            <a:pPr lvl="0"/>
            <a:r>
              <a:rPr b="1"/>
              <a:t>DNS tunneling</a:t>
            </a:r>
            <a:r>
              <a:rPr/>
              <a:t> (canale C2 furtivo)</a:t>
            </a:r>
          </a:p>
          <a:p>
            <a:pPr lvl="0" indent="0" marL="1270000">
              <a:buNone/>
            </a:pPr>
            <a:r>
              <a:rPr sz="2000"/>
              <a:t>Difesa: DNSSEC, DoT/DoH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Vulnerabilità TLS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Heartbleed (2014)</a:t>
            </a:r>
            <a:r>
              <a:rPr/>
              <a:t> — letta memoria server</a:t>
            </a:r>
          </a:p>
          <a:p>
            <a:pPr lvl="0"/>
            <a:r>
              <a:rPr b="1"/>
              <a:t>POODLE, BEAST, CRIME</a:t>
            </a:r>
          </a:p>
          <a:p>
            <a:pPr lvl="0"/>
            <a:r>
              <a:rPr b="1"/>
              <a:t>Downgrade attacks</a:t>
            </a:r>
            <a:r>
              <a:rPr/>
              <a:t> → difesa: HSTS</a:t>
            </a:r>
          </a:p>
          <a:p>
            <a:pPr lvl="0"/>
            <a:r>
              <a:rPr b="1"/>
              <a:t>Certificati invalidi</a:t>
            </a:r>
            <a:r>
              <a:rPr/>
              <a:t> se accettati = MITM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Difese stratificate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Livello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Vulnerabilità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Difesa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XSS, SQLi, IDOR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Codice sicuro (M6)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TLS downgrade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HSTS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Session hijack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Cookie sicuri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SYN flood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Rate limit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IP spoofing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RPF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ARP spoof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Wiretapping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Sicurezza fisica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⚠️ Avviso legale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Sniffing/scanning su reti non proprie = REATO</a:t>
            </a:r>
            <a:r>
              <a:rPr sz="2000"/>
              <a:t> - Art. 615-ter c.p. (accesso abusivo) - Art. 617-quater c.p. (intercettazione illecita)</a:t>
            </a:r>
          </a:p>
          <a:p>
            <a:pPr lvl="0" indent="0" marL="0">
              <a:buNone/>
            </a:pPr>
            <a:r>
              <a:rPr/>
              <a:t>Lab solo su: - 127.0.0.1 - VM del corso - Target esplicitamente autorizzati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Lab M2.1 — Wireshark Discovery (45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Cattura HTTP in chiaro su example.com</a:t>
            </a:r>
          </a:p>
          <a:p>
            <a:pPr lvl="0"/>
            <a:r>
              <a:rPr/>
              <a:t>Filtra </a:t>
            </a:r>
            <a:r>
              <a:rPr>
                <a:latin typeface="Courier"/>
              </a:rPr>
              <a:t>http</a:t>
            </a:r>
            <a:r>
              <a:rPr/>
              <a:t> → vedi GET/Response</a:t>
            </a:r>
          </a:p>
          <a:p>
            <a:pPr lvl="0"/>
            <a:r>
              <a:rPr/>
              <a:t>Cattura HTTPS → vedi solo TLS handshake (cifrato)</a:t>
            </a:r>
          </a:p>
          <a:p>
            <a:pPr lvl="0"/>
            <a:r>
              <a:rPr/>
              <a:t>Filtra </a:t>
            </a:r>
            <a:r>
              <a:rPr>
                <a:latin typeface="Courier"/>
              </a:rPr>
              <a:t>tcp.flags.syn==1</a:t>
            </a:r>
            <a:r>
              <a:rPr/>
              <a:t> → vedi 3-way handshake</a:t>
            </a:r>
          </a:p>
          <a:p>
            <a:pPr lvl="0"/>
            <a:r>
              <a:rPr/>
              <a:t>Filtra </a:t>
            </a:r>
            <a:r>
              <a:rPr>
                <a:latin typeface="Courier"/>
              </a:rPr>
              <a:t>dns</a:t>
            </a:r>
            <a:r>
              <a:rPr/>
              <a:t> → vedi risoluzione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Lab M2.2 — Socket TCP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socket</a:t>
            </a:r>
            <a:br/>
            <a:r>
              <a:rPr>
                <a:latin typeface="Courier"/>
              </a:rPr>
              <a:t>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socket.socket(socket.AF_INET, socket.SOCK_STREAM)</a:t>
            </a:r>
            <a:br/>
            <a:r>
              <a:rPr>
                <a:latin typeface="Courier"/>
              </a:rPr>
              <a:t>s.connect((</a:t>
            </a:r>
            <a:r>
              <a:rPr>
                <a:solidFill>
                  <a:srgbClr val="4070A0"/>
                </a:solidFill>
                <a:latin typeface="Courier"/>
              </a:rPr>
              <a:t>"example.com"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80</a:t>
            </a:r>
            <a:r>
              <a:rPr>
                <a:latin typeface="Courier"/>
              </a:rPr>
              <a:t>))</a:t>
            </a:r>
            <a:br/>
            <a:r>
              <a:rPr>
                <a:latin typeface="Courier"/>
              </a:rPr>
              <a:t>s.sendall(</a:t>
            </a:r>
            <a:r>
              <a:rPr>
                <a:solidFill>
                  <a:srgbClr val="4070A0"/>
                </a:solidFill>
                <a:latin typeface="Courier"/>
              </a:rPr>
              <a:t>b"GET / HTTP/1.1\r\nHost: example.com\r\n\r\n"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(s.recv(</a:t>
            </a:r>
            <a:r>
              <a:rPr>
                <a:solidFill>
                  <a:srgbClr val="40A070"/>
                </a:solidFill>
                <a:latin typeface="Courier"/>
              </a:rPr>
              <a:t>4096</a:t>
            </a:r>
            <a:r>
              <a:rPr>
                <a:latin typeface="Courier"/>
              </a:rPr>
              <a:t>))</a:t>
            </a:r>
          </a:p>
          <a:p>
            <a:pPr lvl="0" indent="0" marL="0">
              <a:buNone/>
            </a:pPr>
            <a:r>
              <a:rPr/>
              <a:t>In parallelo: Wireshark conferma che è la </a:t>
            </a:r>
            <a:r>
              <a:rPr b="1"/>
              <a:t>stessa cosa</a:t>
            </a:r>
            <a:r>
              <a:rPr/>
              <a:t> del browser.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Lab M2.3 — Port Scanner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port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21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80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443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3306</a:t>
            </a:r>
            <a:r>
              <a:rPr>
                <a:latin typeface="Courier"/>
              </a:rPr>
              <a:t>]:</a:t>
            </a:r>
            <a:br/>
            <a:r>
              <a:rPr>
                <a:latin typeface="Courier"/>
              </a:rPr>
              <a:t>    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socket.socket(...)</a:t>
            </a:r>
            <a:br/>
            <a:r>
              <a:rPr>
                <a:latin typeface="Courier"/>
              </a:rPr>
              <a:t>    s.settimeout(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try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s.connect((TARGET, port))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port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 aperta"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except</a:t>
            </a:r>
            <a:r>
              <a:rPr>
                <a:latin typeface="Courier"/>
              </a:rPr>
              <a:t>: </a:t>
            </a:r>
            <a:r>
              <a:rPr b="1">
                <a:solidFill>
                  <a:srgbClr val="007020"/>
                </a:solidFill>
                <a:latin typeface="Courier"/>
              </a:rPr>
              <a:t>pass</a:t>
            </a:r>
          </a:p>
          <a:p>
            <a:pPr lvl="0" indent="0" marL="0">
              <a:buNone/>
            </a:pPr>
            <a:r>
              <a:rPr/>
              <a:t>Confronta con </a:t>
            </a:r>
            <a:r>
              <a:rPr>
                <a:latin typeface="Courier"/>
              </a:rPr>
              <a:t>nmap -sT 127.0.0.1</a:t>
            </a:r>
            <a:r>
              <a:rPr/>
              <a:t>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Lab M2.4 — Scapy Sniff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scapy.</a:t>
            </a:r>
            <a:r>
              <a:rPr>
                <a:solidFill>
                  <a:srgbClr val="008000"/>
                </a:solidFill>
                <a:latin typeface="Courier"/>
              </a:rPr>
              <a:t>all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sniff, IP, TCP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cb(p):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IP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p: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p[IP]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src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 -&gt;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p[IP]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dst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sniff(prn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cb, count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30</a:t>
            </a:r>
            <a:r>
              <a:rPr>
                <a:latin typeface="Courier"/>
              </a:rPr>
              <a:t>, store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Richiede privilegi root/admin.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Cosa portarsi a casa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✅ Pila ISO/OSI a 7 livelli</a:t>
            </a:r>
          </a:p>
          <a:p>
            <a:pPr lvl="0"/>
            <a:r>
              <a:rPr/>
              <a:t>✅ Vulnerabilità per livello</a:t>
            </a:r>
          </a:p>
          <a:p>
            <a:pPr lvl="0"/>
            <a:r>
              <a:rPr/>
              <a:t>✅ TCP vs UDP</a:t>
            </a:r>
          </a:p>
          <a:p>
            <a:pPr lvl="0"/>
            <a:r>
              <a:rPr/>
              <a:t>✅ Wireshark per leggere il traffico</a:t>
            </a:r>
          </a:p>
          <a:p>
            <a:pPr lvl="0"/>
            <a:r>
              <a:rPr/>
              <a:t>✅ Python per scriverlo</a:t>
            </a:r>
          </a:p>
          <a:p>
            <a:pPr lvl="0" indent="0" marL="1270000">
              <a:buNone/>
            </a:pPr>
            <a:r>
              <a:rPr sz="2000"/>
              <a:t>La sicurezza è layered: defense in depth.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Prossimo modulo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M3 — Protocollo HTTP (4h)</a:t>
            </a:r>
          </a:p>
          <a:p>
            <a:pPr lvl="0" indent="0" marL="0">
              <a:buNone/>
            </a:pPr>
            <a:r>
              <a:rPr/>
              <a:t>Adesso che sai come arrivano i bit, vediamo cosa c’è dentro le richieste HTTP.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 — Networking &amp; ISO/OSI</dc:title>
  <dc:creator>Ing. Alessandro Manneschi</dc:creator>
  <cp:keywords/>
  <dcterms:created xsi:type="dcterms:W3CDTF">2026-05-06T20:45:24Z</dcterms:created>
  <dcterms:modified xsi:type="dcterms:W3CDTF">2026-05-06T20:45:24Z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ITS Prodigi · ITS Empoli · SS4I</vt:lpwstr>
  </property>
  <property fmtid="{D5CDD505-2E9C-101B-9397-08002B2CF9AE}" pid="3" name="subtitle">
    <vt:lpwstr>Corso ITS Cybersecurity (32h)</vt:lpwstr>
  </property>
</Properties>
</file>