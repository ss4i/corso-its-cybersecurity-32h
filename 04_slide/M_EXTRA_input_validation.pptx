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Input Validation &amp; Sanitization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— Modulo Avanzato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Input Validation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2-3 ore — Pydantic, regex, sanitization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Validation, sanitization, encoding — chi fa cosa</a:t>
            </a:r>
          </a:p>
          <a:p>
            <a:pPr lvl="0"/>
            <a:r>
              <a:rPr/>
              <a:t>Whitelist vs Blacklist</a:t>
            </a:r>
          </a:p>
          <a:p>
            <a:pPr lvl="0"/>
            <a:r>
              <a:rPr b="1"/>
              <a:t>Pydantic</a:t>
            </a:r>
            <a:r>
              <a:rPr/>
              <a:t> approfondito</a:t>
            </a:r>
          </a:p>
          <a:p>
            <a:pPr lvl="0"/>
            <a:r>
              <a:rPr/>
              <a:t>Regex sicuro (e ReDoS)</a:t>
            </a:r>
          </a:p>
          <a:p>
            <a:pPr lvl="0"/>
            <a:r>
              <a:rPr b="1"/>
              <a:t>bleach</a:t>
            </a:r>
            <a:r>
              <a:rPr/>
              <a:t> per HTML</a:t>
            </a:r>
          </a:p>
          <a:p>
            <a:pPr lvl="0"/>
            <a:r>
              <a:rPr/>
              <a:t>Validation per tipo (email, URL, file)</a:t>
            </a:r>
          </a:p>
          <a:p>
            <a:pPr lvl="0"/>
            <a:r>
              <a:rPr/>
              <a:t>Lab form complesso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3 concetti — non confonderli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/>
                <a:gridCol w="3530600"/>
                <a:gridCol w="3530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Cosa 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Esempio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Verifica + rifiuta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if not isinstance(age, int): raise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Sanitization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Modifica + tiene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bleach.clean(html)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Encoding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Trasforma in 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Jinja2 </a:t>
                      </a:r>
                      <a:r>
                        <a:rPr>
                          <a:latin typeface="Courier"/>
                        </a:rPr>
                        <a:t>{{ x }}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Quando usare cosa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Situazione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Tecnica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Input strutturato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Validation</a:t>
                      </a:r>
                      <a:r>
                        <a:rPr/>
                        <a:t> (Pydantic, regex)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Input HTML ricco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Sanitization</a:t>
                      </a:r>
                      <a:r>
                        <a:rPr/>
                        <a:t> (bleach)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 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Encoding</a:t>
                      </a:r>
                      <a:r>
                        <a:rPr/>
                        <a:t> (Jinja2 auto)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 SQL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Parametrizzazione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 shell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Quoting</a:t>
                      </a:r>
                      <a:r>
                        <a:rPr/>
                        <a:t> (o evita shell)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Regola d’oro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Validate</a:t>
            </a:r>
            <a:r>
              <a:rPr sz="2000"/>
              <a:t> all’entrata </a:t>
            </a:r>
            <a:r>
              <a:rPr sz="2000" b="1"/>
              <a:t>Encode</a:t>
            </a:r>
            <a:r>
              <a:rPr sz="2000"/>
              <a:t> all’uscita </a:t>
            </a:r>
            <a:r>
              <a:rPr sz="2000" b="1"/>
              <a:t>Sanitize</a:t>
            </a:r>
            <a:r>
              <a:rPr sz="2000"/>
              <a:t> solo se serve struttura ricca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Whitelist vs Blacklist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 BLACKLIST (sbagliato)</a:t>
            </a:r>
            <a:br/>
            <a:r>
              <a:rPr>
                <a:latin typeface="Courier"/>
              </a:rPr>
              <a:t>forbidden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"'"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";"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"&lt;script&gt;"</a:t>
            </a:r>
            <a:r>
              <a:rPr>
                <a:latin typeface="Courier"/>
              </a:rPr>
              <a:t>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f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forbidden:</a:t>
            </a:r>
            <a:br/>
            <a:r>
              <a:rPr>
                <a:latin typeface="Courier"/>
              </a:rPr>
              <a:t>    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s.replace(f,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Bypass infiniti: </a:t>
            </a:r>
            <a:r>
              <a:rPr>
                <a:latin typeface="Courier"/>
              </a:rPr>
              <a:t>&lt;ScRiPt&gt;</a:t>
            </a:r>
            <a:r>
              <a:rPr/>
              <a:t>, </a:t>
            </a:r>
            <a:r>
              <a:rPr>
                <a:latin typeface="Courier"/>
              </a:rPr>
              <a:t>&amp;#x27;</a:t>
            </a:r>
            <a:r>
              <a:rPr/>
              <a:t>, ecc.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Whitelist (giusto)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✅ WHITELIST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is_valid_username(s):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(re.fullmatch(</a:t>
            </a:r>
            <a:r>
              <a:rPr>
                <a:solidFill>
                  <a:srgbClr val="4070A0"/>
                </a:solidFill>
                <a:latin typeface="Courier"/>
              </a:rPr>
              <a:t>r"</a:t>
            </a:r>
            <a:r>
              <a:rPr>
                <a:solidFill>
                  <a:srgbClr val="BC7A00"/>
                </a:solidFill>
                <a:latin typeface="Courier"/>
              </a:rPr>
              <a:t>[a-zA-Z0-9_]</a:t>
            </a:r>
            <a:r>
              <a:rPr>
                <a:solidFill>
                  <a:srgbClr val="666666"/>
                </a:solidFill>
                <a:latin typeface="Courier"/>
              </a:rPr>
              <a:t>{3,20}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, s))</a:t>
            </a:r>
          </a:p>
          <a:p>
            <a:pPr lvl="0" indent="0" marL="0">
              <a:buNone/>
            </a:pPr>
            <a:r>
              <a:rPr/>
              <a:t>Definito, controllato, esplicito.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regola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Whitelist sempre. Blacklist mai.</a:t>
            </a:r>
          </a:p>
          <a:p>
            <a:pPr lvl="0" indent="0" marL="0">
              <a:buNone/>
            </a:pPr>
            <a:r>
              <a:rPr/>
              <a:t>Eccezione: WAF in defense in depth, mai come unica difesa.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Pydantic — cos’è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</a:t>
            </a:r>
            <a:r>
              <a:rPr b="1"/>
              <a:t>declarativa</a:t>
            </a:r>
            <a:r>
              <a:rPr/>
              <a:t> Python basata su type hints.</a:t>
            </a:r>
          </a:p>
          <a:p>
            <a:pPr lvl="0" indent="0">
              <a:buNone/>
            </a:pPr>
            <a:r>
              <a:rPr>
                <a:latin typeface="Courier"/>
              </a:rPr>
              <a:t>pip install pydantic</a:t>
            </a:r>
            <a:r>
              <a:rPr>
                <a:solidFill>
                  <a:srgbClr val="BC7A00"/>
                </a:solidFill>
                <a:latin typeface="Courier"/>
              </a:rPr>
              <a:t>[</a:t>
            </a:r>
            <a:r>
              <a:rPr>
                <a:solidFill>
                  <a:srgbClr val="BB6688"/>
                </a:solidFill>
                <a:latin typeface="Courier"/>
              </a:rPr>
              <a:t>email</a:t>
            </a:r>
            <a:r>
              <a:rPr>
                <a:solidFill>
                  <a:srgbClr val="BC7A00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Standard de facto in FastAPI.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Pydantic — esempio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pydantic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BaseModel, EmailStr, Field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datetime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date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Iscrizione(BaseModel):</a:t>
            </a:r>
            <a:br/>
            <a:r>
              <a:rPr>
                <a:latin typeface="Courier"/>
              </a:rPr>
              <a:t>    username: 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Field(min_length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max_length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     pattern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r"</a:t>
            </a:r>
            <a:r>
              <a:rPr>
                <a:solidFill>
                  <a:srgbClr val="40A070"/>
                </a:solidFill>
                <a:latin typeface="Courier"/>
              </a:rPr>
              <a:t>^</a:t>
            </a:r>
            <a:r>
              <a:rPr>
                <a:solidFill>
                  <a:srgbClr val="BC7A00"/>
                </a:solidFill>
                <a:latin typeface="Courier"/>
              </a:rPr>
              <a:t>[a-zA-Z0-9_]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email: EmailStr</a:t>
            </a:r>
            <a:br/>
            <a:r>
              <a:rPr>
                <a:latin typeface="Courier"/>
              </a:rPr>
              <a:t>    age: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Field(ge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latin typeface="Courier"/>
              </a:rPr>
              <a:t>, 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120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birthdate: date</a:t>
            </a:r>
            <a:br/>
            <a:r>
              <a:rPr>
                <a:latin typeface="Courier"/>
              </a:rPr>
              <a:t>    password: 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Field(min_length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Validators custom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Iscrizione(BaseModel):</a:t>
            </a:r>
            <a:br/>
            <a:r>
              <a:rPr>
                <a:latin typeface="Courier"/>
              </a:rPr>
              <a:t>    password: 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br/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@field_validator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"password"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@classmethod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strong(cls, v):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any</a:t>
            </a:r>
            <a:r>
              <a:rPr>
                <a:latin typeface="Courier"/>
              </a:rPr>
              <a:t>(c.isupper()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"manca maiuscola"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any</a:t>
            </a:r>
            <a:r>
              <a:rPr>
                <a:latin typeface="Courier"/>
              </a:rPr>
              <a:t>(c.isdigit()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"manca numero"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v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Pattern — 3 modelli separati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Input dall'utente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UserCreate(BaseModel):</a:t>
            </a:r>
            <a:br/>
            <a:r>
              <a:rPr>
                <a:latin typeface="Courier"/>
              </a:rPr>
              <a:t>    email: EmailStr</a:t>
            </a:r>
            <a:br/>
            <a:r>
              <a:rPr>
                <a:latin typeface="Courier"/>
              </a:rPr>
              <a:t>    password: 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br/>
            <a:r>
              <a:rPr>
                <a:latin typeface="Courier"/>
              </a:rPr>
              <a:t>    name: 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Output API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UserPublic(BaseModel):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br/>
            <a:r>
              <a:rPr>
                <a:latin typeface="Courier"/>
              </a:rPr>
              <a:t>    email: EmailStr</a:t>
            </a:r>
            <a:br/>
            <a:r>
              <a:rPr>
                <a:latin typeface="Courier"/>
              </a:rPr>
              <a:t>    name: 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NO: password_hash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DB model (separato)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User(Base):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, email, password_hash, role, ...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Regex — quando 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Username, slug, codici (CAP)</a:t>
            </a:r>
          </a:p>
          <a:p>
            <a:pPr lvl="0"/>
            <a:r>
              <a:rPr/>
              <a:t>Pattern semplici a struttura nota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Regex — quando MALE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Perché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RFC 5322 impossibile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URL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 urllib.parse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 parser (lxml)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JSON/XML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 parser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Numeri carta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 libreria luhn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ReDoS — Regular expression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 BACKTRACKING ESPONENZIALE</a:t>
            </a:r>
            <a:br/>
            <a:r>
              <a:rPr>
                <a:latin typeface="Courier"/>
              </a:rPr>
              <a:t>re.match(</a:t>
            </a:r>
            <a:r>
              <a:rPr>
                <a:solidFill>
                  <a:srgbClr val="4070A0"/>
                </a:solidFill>
                <a:latin typeface="Courier"/>
              </a:rPr>
              <a:t>r"</a:t>
            </a:r>
            <a:r>
              <a:rPr>
                <a:solidFill>
                  <a:srgbClr val="40A070"/>
                </a:solidFill>
                <a:latin typeface="Courier"/>
              </a:rPr>
              <a:t>^</a:t>
            </a:r>
            <a:r>
              <a:rPr b="1">
                <a:solidFill>
                  <a:srgbClr val="007020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"!"</a:t>
            </a:r>
            <a:r>
              <a:rPr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~5 secondi su 30 chars</a:t>
            </a:r>
          </a:p>
          <a:p>
            <a:pPr lvl="0" indent="0" marL="0">
              <a:buNone/>
            </a:pPr>
            <a:r>
              <a:rPr/>
              <a:t>Difesa: - No quantificatori annidati - Validate length </a:t>
            </a:r>
            <a:r>
              <a:rPr b="1"/>
              <a:t>prima</a:t>
            </a:r>
            <a:r>
              <a:rPr/>
              <a:t> di regex - Tool: devina.io/redos-checker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Sanitizzazione HTML — bleach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Quando l’utente deve scrivere HTML “ricco” (commenti, profilo).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bleach</a:t>
            </a:r>
            <a:br/>
            <a:br/>
            <a:r>
              <a:rPr>
                <a:latin typeface="Courier"/>
              </a:rPr>
              <a:t>clean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bleach.clean(</a:t>
            </a:r>
            <a:br/>
            <a:r>
              <a:rPr>
                <a:latin typeface="Courier"/>
              </a:rPr>
              <a:t>    user_html,</a:t>
            </a:r>
            <a:br/>
            <a:r>
              <a:rPr>
                <a:latin typeface="Courier"/>
              </a:rPr>
              <a:t>    tags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"p"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"i"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attributes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latin typeface="Courier"/>
              </a:rPr>
              <a:t>: [</a:t>
            </a:r>
            <a:r>
              <a:rPr>
                <a:solidFill>
                  <a:srgbClr val="4070A0"/>
                </a:solidFill>
                <a:latin typeface="Courier"/>
              </a:rPr>
              <a:t>"href"</a:t>
            </a:r>
            <a:r>
              <a:rPr>
                <a:latin typeface="Courier"/>
              </a:rPr>
              <a:t>]},</a:t>
            </a:r>
            <a:br/>
            <a:r>
              <a:rPr>
                <a:latin typeface="Courier"/>
              </a:rPr>
              <a:t>    protocols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"http"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"https"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strip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bleach — esempi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&lt;p&gt;Ciao&lt;/p&gt;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&lt;p&gt;Ciao&lt;/p&gt;</a:t>
                      </a:r>
                      <a:r>
                        <a:rPr/>
                        <a:t> 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&lt;script&gt;alert(1)&lt;/script&gt;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rimosso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&lt;a href="javascript:..."&gt;x&lt;/a&gt;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&lt;a&gt;x&lt;/a&gt;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&lt;a href="https://..."&gt;x&lt;/a&gt;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OK 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per tipo —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email_validator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validate_email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info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validate_email(input_email)</a:t>
            </a:r>
            <a:br/>
            <a:r>
              <a:rPr>
                <a:latin typeface="Courier"/>
              </a:rPr>
              <a:t>    normalized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info.normalized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except</a:t>
            </a:r>
            <a:r>
              <a:rPr>
                <a:latin typeface="Courier"/>
              </a:rPr>
              <a:t> EmailNotValidError: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"email"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In Pydantic: </a:t>
            </a:r>
            <a:r>
              <a:rPr>
                <a:latin typeface="Courier"/>
              </a:rPr>
              <a:t>EmailStr</a:t>
            </a:r>
            <a:r>
              <a:rPr/>
              <a:t>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per tipo —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urllib.parse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urlparse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is_safe_url(url):</a:t>
            </a:r>
            <a:br/>
            <a:r>
              <a:rPr>
                <a:latin typeface="Courier"/>
              </a:rPr>
              <a:t>    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urlparse(url)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p.scheme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"http"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"https"</a:t>
            </a:r>
            <a:r>
              <a:rPr>
                <a:latin typeface="Courier"/>
              </a:rPr>
              <a:t>}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(p.netloc)</a:t>
            </a:r>
          </a:p>
          <a:p>
            <a:pPr lvl="0" indent="0" marL="0">
              <a:buNone/>
            </a:pPr>
            <a:r>
              <a:rPr/>
              <a:t>In Pydantic: </a:t>
            </a:r>
            <a:r>
              <a:rPr>
                <a:latin typeface="Courier"/>
              </a:rPr>
              <a:t>HttpUrl</a:t>
            </a:r>
            <a:r>
              <a:rPr/>
              <a:t>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per tipo — Filename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SAFE_FILENAME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re.</a:t>
            </a:r>
            <a:r>
              <a:rPr>
                <a:solidFill>
                  <a:srgbClr val="008000"/>
                </a:solidFill>
                <a:latin typeface="Courier"/>
              </a:rPr>
              <a:t>compile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r"</a:t>
            </a:r>
            <a:r>
              <a:rPr>
                <a:solidFill>
                  <a:srgbClr val="40A070"/>
                </a:solidFill>
                <a:latin typeface="Courier"/>
              </a:rPr>
              <a:t>^</a:t>
            </a:r>
            <a:r>
              <a:rPr>
                <a:solidFill>
                  <a:srgbClr val="BC7A00"/>
                </a:solidFill>
                <a:latin typeface="Courier"/>
              </a:rPr>
              <a:t>[a-zA-Z0-9._-]</a:t>
            </a:r>
            <a:r>
              <a:rPr>
                <a:solidFill>
                  <a:srgbClr val="666666"/>
                </a:solidFill>
                <a:latin typeface="Courier"/>
              </a:rPr>
              <a:t>{1,100}</a:t>
            </a:r>
            <a:r>
              <a:rPr>
                <a:solidFill>
                  <a:srgbClr val="40A070"/>
                </a:solidFill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safe_filename(s):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SAFE_FILENAME.fullmatch(s):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s.startswith(</a:t>
            </a:r>
            <a:r>
              <a:rPr>
                <a:solidFill>
                  <a:srgbClr val="4070A0"/>
                </a:solidFill>
                <a:latin typeface="Courier"/>
              </a:rPr>
              <a:t>"."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"/"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s: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per tipo —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decimal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Decimal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parse_money(s):</a:t>
            </a:r>
            <a:br/>
            <a:r>
              <a:rPr>
                <a:latin typeface="Courier"/>
              </a:rPr>
              <a:t>    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Decimal(s)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d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d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1_000_000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"range"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d.as_tuple().exponent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"max 2 decimali"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d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file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Validare: - </a:t>
            </a:r>
            <a:r>
              <a:rPr b="1"/>
              <a:t>Estensione</a:t>
            </a:r>
            <a:r>
              <a:rPr/>
              <a:t> (whitelist) - </a:t>
            </a:r>
            <a:r>
              <a:rPr b="1"/>
              <a:t>MIME</a:t>
            </a:r>
            <a:r>
              <a:rPr/>
              <a:t> (libmagic, NO header HTTP) - </a:t>
            </a:r>
            <a:r>
              <a:rPr b="1"/>
              <a:t>Dimensione</a:t>
            </a:r>
            <a:r>
              <a:rPr/>
              <a:t> - </a:t>
            </a:r>
            <a:r>
              <a:rPr b="1"/>
              <a:t>Contenuto</a:t>
            </a:r>
            <a:r>
              <a:rPr/>
              <a:t> (es. Pillow per immagine)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 validation — esempio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magic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PIL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Image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validate_image(content, max_size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40A070"/>
                </a:solidFill>
                <a:latin typeface="Courier"/>
              </a:rPr>
              <a:t>1024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40A070"/>
                </a:solidFill>
                <a:latin typeface="Courier"/>
              </a:rPr>
              <a:t>1024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(content)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max_size: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"size"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mime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magic.from_buffer(content, mime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mime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"image/png"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"image/jpeg"</a:t>
            </a:r>
            <a:r>
              <a:rPr>
                <a:latin typeface="Courier"/>
              </a:rPr>
              <a:t>}: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"mime"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Image.</a:t>
            </a:r>
            <a:r>
              <a:rPr>
                <a:solidFill>
                  <a:srgbClr val="008000"/>
                </a:solidFill>
                <a:latin typeface="Courier"/>
              </a:rPr>
              <a:t>open</a:t>
            </a:r>
            <a:r>
              <a:rPr>
                <a:latin typeface="Courier"/>
              </a:rPr>
              <a:t>(io.BytesIO(content)).verify()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JSON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schema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"type"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"object"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"properties"</a:t>
            </a:r>
            <a:r>
              <a:rPr>
                <a:latin typeface="Courier"/>
              </a:rPr>
              <a:t>: 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"username"</a:t>
            </a:r>
            <a:r>
              <a:rPr>
                <a:latin typeface="Courier"/>
              </a:rPr>
              <a:t>: {</a:t>
            </a:r>
            <a:r>
              <a:rPr>
                <a:solidFill>
                  <a:srgbClr val="4070A0"/>
                </a:solidFill>
                <a:latin typeface="Courier"/>
              </a:rPr>
              <a:t>"type"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"string"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"minLength"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"age"</a:t>
            </a:r>
            <a:r>
              <a:rPr>
                <a:latin typeface="Courier"/>
              </a:rPr>
              <a:t>: {</a:t>
            </a:r>
            <a:r>
              <a:rPr>
                <a:solidFill>
                  <a:srgbClr val="4070A0"/>
                </a:solidFill>
                <a:latin typeface="Courier"/>
              </a:rPr>
              <a:t>"type"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"integer"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"minimum"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    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"required"</a:t>
            </a:r>
            <a:r>
              <a:rPr>
                <a:latin typeface="Courier"/>
              </a:rPr>
              <a:t>: [</a:t>
            </a:r>
            <a:r>
              <a:rPr>
                <a:solidFill>
                  <a:srgbClr val="4070A0"/>
                </a:solidFill>
                <a:latin typeface="Courier"/>
              </a:rPr>
              <a:t>"username"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"additionalProperties"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,  </a:t>
            </a:r>
            <a:r>
              <a:rPr i="1">
                <a:solidFill>
                  <a:srgbClr val="60A0B0"/>
                </a:solidFill>
                <a:latin typeface="Courier"/>
              </a:rPr>
              <a:t># ⚠️ rifiuta extra</a:t>
            </a:r>
            <a:br/>
            <a:r>
              <a:rPr>
                <a:latin typeface="Courier"/>
              </a:rPr>
              <a:t>}</a:t>
            </a:r>
            <a:br/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jsonschema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validate</a:t>
            </a:r>
            <a:br/>
            <a:r>
              <a:rPr>
                <a:latin typeface="Courier"/>
              </a:rPr>
              <a:t>validate(request.json, schema)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Pydantic vs JSON Schema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Pydantic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JSON Schema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DSL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JSON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Coercion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Limitato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Cross-language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FastAPI: usa Pydantic + genera JSON Schema.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— form complesso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 di registrazione con: - Username alfanum - EmailStr - Password robusta (4 regole) - Data nascita &gt;= 18 anni - Bio in HTML “ricco” (b, i, a) - URL profilo HTTPS - Foto PNG/JPG max 5MB - Skills list (max 10)</a:t>
            </a:r>
          </a:p>
          <a:p>
            <a:pPr lvl="0" indent="0" marL="1270000">
              <a:buNone/>
            </a:pPr>
            <a:r>
              <a:rPr sz="2000"/>
              <a:t>Codice in </a:t>
            </a:r>
            <a:r>
              <a:rPr sz="2000">
                <a:latin typeface="Courier"/>
              </a:rPr>
              <a:t>02_lab/M_EXTRA_input_validation_lab.py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casi limite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test_username_invalido():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with</a:t>
            </a:r>
            <a:r>
              <a:rPr>
                <a:latin typeface="Courier"/>
              </a:rPr>
              <a:t> pytest.raises(ValidationError):</a:t>
            </a:r>
            <a:br/>
            <a:r>
              <a:rPr>
                <a:latin typeface="Courier"/>
              </a:rPr>
              <a:t>        UserCreate(username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"ab"</a:t>
            </a:r>
            <a:r>
              <a:rPr>
                <a:latin typeface="Courier"/>
              </a:rPr>
              <a:t>, ...)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test_xss_in_bio():</a:t>
            </a:r>
            <a:br/>
            <a:r>
              <a:rPr>
                <a:latin typeface="Courier"/>
              </a:rPr>
              <a:t>    u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UserCreate(bio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'&lt;script&gt;alert(1)&lt;/script&gt;&lt;p&gt;OK&lt;/p&gt;'</a:t>
            </a:r>
            <a:r>
              <a:rPr>
                <a:latin typeface="Courier"/>
              </a:rPr>
              <a:t>, ...)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"&lt;script&gt;"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u.bio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"&lt;p&gt;"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u.bio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test_minorenne():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with</a:t>
            </a:r>
            <a:r>
              <a:rPr>
                <a:latin typeface="Courier"/>
              </a:rPr>
              <a:t> pytest.raises(ValidationError):</a:t>
            </a:r>
            <a:br/>
            <a:r>
              <a:rPr>
                <a:latin typeface="Courier"/>
              </a:rPr>
              <a:t>        UserCreate(birthdate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date(</a:t>
            </a:r>
            <a:r>
              <a:rPr>
                <a:solidFill>
                  <a:srgbClr val="40A070"/>
                </a:solidFill>
                <a:latin typeface="Courier"/>
              </a:rPr>
              <a:t>2020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), ...)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Antipattern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Conseguenza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Solo client-side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Bypass curl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Blacklist caratteri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Sempre incomplete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Regex email manuale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Falsi positivi/negativi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eval()</a:t>
                      </a:r>
                      <a:r>
                        <a:rPr/>
                        <a:t> su input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pickle.loads()</a:t>
                      </a:r>
                      <a:r>
                        <a:rPr/>
                        <a:t> untrusted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length limit prima di regex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Trust </a:t>
                      </a:r>
                      <a:r>
                        <a:rPr>
                          <a:latin typeface="Courier"/>
                        </a:rPr>
                        <a:t>Content-Type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MIME spoofing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Risorse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OWASP Input Validation Cheat Sheet</a:t>
            </a:r>
          </a:p>
          <a:p>
            <a:pPr lvl="0"/>
            <a:r>
              <a:rPr/>
              <a:t>Pydantic docs</a:t>
            </a:r>
          </a:p>
          <a:p>
            <a:pPr lvl="0"/>
            <a:r>
              <a:rPr/>
              <a:t>bleach docs</a:t>
            </a:r>
          </a:p>
          <a:p>
            <a:pPr lvl="0"/>
            <a:r>
              <a:rPr/>
              <a:t>OWASP Mass Assignment Cheat Sheet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Domande?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— Input Validation &amp; Sanitization</dc:title>
  <dc:creator>Ing. Alessandro Manneschi</dc:creator>
  <cp:keywords/>
  <dcterms:created xsi:type="dcterms:W3CDTF">2026-05-06T21:55:04Z</dcterms:created>
  <dcterms:modified xsi:type="dcterms:W3CDTF">2026-05-06T21:55:04Z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— Modulo Avanzato</vt:lpwstr>
  </property>
</Properties>
</file>