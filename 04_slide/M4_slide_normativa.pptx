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M4 — Quadro Normativo Europeo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M4 — Quadro Normativo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ore — solo teoria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Conoscere </a:t>
            </a:r>
            <a:r>
              <a:rPr b="1"/>
              <a:t>GDPR</a:t>
            </a:r>
            <a:r>
              <a:rPr/>
              <a:t>, </a:t>
            </a:r>
            <a:r>
              <a:rPr b="1"/>
              <a:t>NIS 2</a:t>
            </a:r>
            <a:r>
              <a:rPr/>
              <a:t>, </a:t>
            </a:r>
            <a:r>
              <a:rPr b="1"/>
              <a:t>CRA</a:t>
            </a:r>
          </a:p>
          <a:p>
            <a:pPr lvl="0"/>
            <a:r>
              <a:rPr/>
              <a:t>Articoli che riguardano il codice</a:t>
            </a:r>
          </a:p>
          <a:p>
            <a:pPr lvl="0"/>
            <a:r>
              <a:rPr/>
              <a:t>Sanzioni e obblighi di notifica</a:t>
            </a:r>
          </a:p>
          <a:p>
            <a:pPr lvl="0"/>
            <a:r>
              <a:rPr/>
              <a:t>Casi italiani reali</a:t>
            </a:r>
          </a:p>
          <a:p>
            <a:pPr lvl="0"/>
            <a:r>
              <a:rPr/>
              <a:t>“Errore di codice → norma violata”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Perché un programmatore deve sapere di leggi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“Le leggi sono cose da avvocati” ❌ “Se sbaglio io, paga l’azienda” ❌ “Tanto in Italia non ti beccano”</a:t>
            </a:r>
          </a:p>
          <a:p>
            <a:pPr lvl="0" indent="0" marL="1270000">
              <a:buNone/>
            </a:pPr>
            <a:r>
              <a:rPr sz="2000"/>
              <a:t>Tutte sbagliate. Le norme parlano di </a:t>
            </a:r>
            <a:r>
              <a:rPr sz="2000" b="1"/>
              <a:t>codice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in 3 righe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Reg. (UE) 2016/679</a:t>
            </a:r>
          </a:p>
          <a:p>
            <a:pPr lvl="0"/>
            <a:r>
              <a:rPr/>
              <a:t>In vigore dal </a:t>
            </a:r>
            <a:r>
              <a:rPr b="1"/>
              <a:t>25 maggio 2018</a:t>
            </a:r>
          </a:p>
          <a:p>
            <a:pPr lvl="0"/>
            <a:r>
              <a:rPr/>
              <a:t>Si applica a chiunque tratti dati di residenti 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Cos’è un dato personale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«Qualsiasi informazione riguardante una persona fisica identificata o identificabile»</a:t>
            </a:r>
          </a:p>
          <a:p>
            <a:pPr lvl="0"/>
            <a:r>
              <a:rPr/>
              <a:t>Sì: nome, email, IP fisso, foto, comportamento online</a:t>
            </a:r>
          </a:p>
          <a:p>
            <a:pPr lvl="0"/>
            <a:r>
              <a:rPr/>
              <a:t>No: statistiche aggregate anonime, codice sorgente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Categorie particolari (Art.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Protezione rinforzata: - Salute - Etnia, opinioni politiche/religiose - Dati biometrici, genetici - Vita / orientamento sessuale - Dati giudiziari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5 — i 6 principi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Liceità, correttezza, trasparenza</a:t>
            </a:r>
          </a:p>
          <a:p>
            <a:pPr lvl="0" indent="-342900" marL="342900">
              <a:buAutoNum type="arabicPeriod"/>
            </a:pPr>
            <a:r>
              <a:rPr/>
              <a:t>Limitazione delle finalità</a:t>
            </a:r>
          </a:p>
          <a:p>
            <a:pPr lvl="0" indent="-342900" marL="342900">
              <a:buAutoNum type="arabicPeriod"/>
            </a:pPr>
            <a:r>
              <a:rPr b="1"/>
              <a:t>Minimizzazione</a:t>
            </a:r>
          </a:p>
          <a:p>
            <a:pPr lvl="0" indent="-342900" marL="342900">
              <a:buAutoNum type="arabicPeriod"/>
            </a:pPr>
            <a:r>
              <a:rPr/>
              <a:t>Esattezza</a:t>
            </a:r>
          </a:p>
          <a:p>
            <a:pPr lvl="0" indent="-342900" marL="342900">
              <a:buAutoNum type="arabicPeriod"/>
            </a:pPr>
            <a:r>
              <a:rPr/>
              <a:t>Limitazione conservazione</a:t>
            </a:r>
          </a:p>
          <a:p>
            <a:pPr lvl="0" indent="-342900" marL="342900">
              <a:buAutoNum type="arabicPeriod"/>
            </a:pPr>
            <a:r>
              <a:rPr b="1"/>
              <a:t>Integrità e riservatezza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25 — Privacy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«Misure tecniche e organizzative al momento di determinare i mezzi del trattamento»</a:t>
            </a:r>
          </a:p>
          <a:p>
            <a:pPr lvl="0" indent="0" marL="0">
              <a:buNone/>
            </a:pPr>
            <a:r>
              <a:rPr/>
              <a:t>→ Si </a:t>
            </a:r>
            <a:r>
              <a:rPr b="1"/>
              <a:t>progetta</a:t>
            </a:r>
            <a:r>
              <a:rPr/>
              <a:t> prima di scrivere codice (M5).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32 — Sicurezza del trattamento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L’articolo che tocca direttamente il codice:</a:t>
            </a:r>
          </a:p>
          <a:p>
            <a:pPr lvl="0" indent="-342900" marL="342900">
              <a:buAutoNum type="alphaLcParenBoth"/>
            </a:pPr>
            <a:r>
              <a:rPr/>
              <a:t>Pseudonimizzazione e </a:t>
            </a:r>
            <a:r>
              <a:rPr b="1"/>
              <a:t>cifratura</a:t>
            </a:r>
          </a:p>
          <a:p>
            <a:pPr lvl="0" indent="-342900" marL="342900">
              <a:buAutoNum startAt="2" type="alphaLcParenBoth"/>
            </a:pPr>
            <a:r>
              <a:rPr/>
              <a:t>Riservatezza, integrità, disponibilità</a:t>
            </a:r>
          </a:p>
          <a:p>
            <a:pPr lvl="0" indent="-342900" marL="342900">
              <a:buAutoNum startAt="3" type="alphaLcParenBoth"/>
            </a:pPr>
            <a:r>
              <a:rPr/>
              <a:t>Capacità di </a:t>
            </a:r>
            <a:r>
              <a:rPr b="1"/>
              <a:t>ripristino</a:t>
            </a:r>
            <a:r>
              <a:rPr/>
              <a:t> (backup)</a:t>
            </a:r>
          </a:p>
          <a:p>
            <a:pPr lvl="0" indent="-342900" marL="342900">
              <a:buAutoNum startAt="4" type="alphaLcParenBoth"/>
            </a:pPr>
            <a:r>
              <a:rPr/>
              <a:t>Test e verifica regolare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Art. 33-34 — Notifica breach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Art. 33</a:t>
            </a:r>
            <a:r>
              <a:rPr/>
              <a:t>: notifica al Garante entro </a:t>
            </a:r>
            <a:r>
              <a:rPr b="1"/>
              <a:t>72 ore</a:t>
            </a:r>
          </a:p>
          <a:p>
            <a:pPr lvl="0"/>
            <a:r>
              <a:rPr b="1"/>
              <a:t>Art. 34</a:t>
            </a:r>
            <a:r>
              <a:rPr/>
              <a:t>: comunicazione agli interessati se rischio elevato</a:t>
            </a:r>
          </a:p>
          <a:p>
            <a:pPr lvl="0"/>
            <a:r>
              <a:rPr/>
              <a:t>Eccezione: dati cifrati con chiave al sicuro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— sanzioni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1200"/>
                <a:gridCol w="370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Massimo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Violazioni “minori” (no DPO, no DPIA)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10M€ o 2% fatturato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Violazioni “maggiori” (principi base, diritti)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20M€ o 4% fatturato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Si applica </a:t>
            </a:r>
            <a:r>
              <a:rPr sz="2000" b="1"/>
              <a:t>il maggiore</a:t>
            </a:r>
            <a:r>
              <a:rPr sz="2000"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in 3 righe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Direttiva (UE) 2022/2555</a:t>
            </a:r>
          </a:p>
          <a:p>
            <a:pPr lvl="0"/>
            <a:r>
              <a:rPr/>
              <a:t>Recepita in Italia con D.Lgs. 138/2024</a:t>
            </a:r>
          </a:p>
          <a:p>
            <a:pPr lvl="0"/>
            <a:r>
              <a:rPr/>
              <a:t>Sostituisce NIS 1 (2016) — ambito molto più ampio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— chi è “soggetto”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Settori essenziali (All. I)</a:t>
            </a:r>
            <a:r>
              <a:rPr/>
              <a:t>: - Energia, trasporti, sanità, banche - DNS, cloud, datacenter - PA centrali e regionali</a:t>
            </a:r>
          </a:p>
          <a:p>
            <a:pPr lvl="0" indent="0" marL="0">
              <a:buNone/>
            </a:pPr>
            <a:r>
              <a:rPr b="1"/>
              <a:t>Settori importanti (All. II)</a:t>
            </a:r>
            <a:r>
              <a:rPr/>
              <a:t>: - Servizi postali, gestione rifiuti - Manifattura ICT, alimentare - Servizi digitali (social, marketplace)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— soglie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Almeno 50 dipendenti </a:t>
            </a:r>
            <a:r>
              <a:rPr b="1"/>
              <a:t>OPPURE</a:t>
            </a:r>
            <a:r>
              <a:rPr/>
              <a:t> 10M€ fatturato</a:t>
            </a:r>
          </a:p>
          <a:p>
            <a:pPr lvl="0"/>
            <a:r>
              <a:rPr/>
              <a:t>Eccezione: soggetti critici (DNS, telco, ecc.) </a:t>
            </a:r>
            <a:r>
              <a:rPr b="1"/>
              <a:t>a prescindere</a:t>
            </a:r>
            <a:r>
              <a:rPr/>
              <a:t> dalle dimensioni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Art. 21 — 10 misure obbligatorie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Politiche e analisi rischi</a:t>
            </a:r>
          </a:p>
          <a:p>
            <a:pPr lvl="0" indent="-342900" marL="342900">
              <a:buAutoNum type="arabicPeriod"/>
            </a:pPr>
            <a:r>
              <a:rPr b="1"/>
              <a:t>Gestione incidenti</a:t>
            </a:r>
          </a:p>
          <a:p>
            <a:pPr lvl="0" indent="-342900" marL="342900">
              <a:buAutoNum type="arabicPeriod"/>
            </a:pPr>
            <a:r>
              <a:rPr/>
              <a:t>Continuità operativa</a:t>
            </a:r>
          </a:p>
          <a:p>
            <a:pPr lvl="0" indent="-342900" marL="342900">
              <a:buAutoNum type="arabicPeriod"/>
            </a:pPr>
            <a:r>
              <a:rPr/>
              <a:t>Sicurezza supply chain</a:t>
            </a:r>
          </a:p>
          <a:p>
            <a:pPr lvl="0" indent="-342900" marL="342900">
              <a:buAutoNum type="arabicPeriod"/>
            </a:pPr>
            <a:r>
              <a:rPr b="1"/>
              <a:t>SDLC sicuro, gestione vulnerabilità</a:t>
            </a:r>
          </a:p>
          <a:p>
            <a:pPr lvl="0" indent="-342900" marL="342900">
              <a:buAutoNum type="arabicPeriod"/>
            </a:pPr>
            <a:r>
              <a:rPr/>
              <a:t>Valutazione efficacia</a:t>
            </a:r>
          </a:p>
          <a:p>
            <a:pPr lvl="0" indent="-342900" marL="342900">
              <a:buAutoNum type="arabicPeriod"/>
            </a:pPr>
            <a:r>
              <a:rPr/>
              <a:t>Igiene cyber e formazione</a:t>
            </a:r>
          </a:p>
          <a:p>
            <a:pPr lvl="0" indent="-342900" marL="342900">
              <a:buAutoNum type="arabicPeriod"/>
            </a:pPr>
            <a:r>
              <a:rPr/>
              <a:t>Politiche di </a:t>
            </a:r>
            <a:r>
              <a:rPr b="1"/>
              <a:t>cifratura</a:t>
            </a:r>
          </a:p>
          <a:p>
            <a:pPr lvl="0" indent="-342900" marL="342900">
              <a:buAutoNum type="arabicPeriod"/>
            </a:pPr>
            <a:r>
              <a:rPr/>
              <a:t>Sicurezza personale, controllo accessi</a:t>
            </a:r>
          </a:p>
          <a:p>
            <a:pPr lvl="0" indent="-342900" marL="342900">
              <a:buAutoNum type="arabicPeriod"/>
            </a:pPr>
            <a:r>
              <a:rPr b="1"/>
              <a:t>MFA</a:t>
            </a:r>
            <a:r>
              <a:rPr/>
              <a:t>, comunicazioni sicure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Art. 23 — notifica (3 fasi)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Early warning preliminare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Notifica completa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30gg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 finale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24h sono strette → serve incident response plan.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NIS 2 — sanzioni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Massimo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Soggetti </a:t>
                      </a:r>
                      <a:r>
                        <a:rPr b="1"/>
                        <a:t>essenziali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10M€ o 2% fatturato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Soggetti </a:t>
                      </a:r>
                      <a:r>
                        <a:rPr b="1"/>
                        <a:t>importanti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7M€ o 1,4% fatturato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sospensione</a:t>
            </a:r>
            <a:r>
              <a:rPr/>
              <a:t> del management dalla carica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 Resilience Act (CRA)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Reg. (UE) 2024/2847</a:t>
            </a:r>
          </a:p>
          <a:p>
            <a:pPr lvl="0"/>
            <a:r>
              <a:rPr b="1"/>
              <a:t>Piena applicazione: dicembre 2027</a:t>
            </a:r>
          </a:p>
          <a:p>
            <a:pPr lvl="0"/>
            <a:r>
              <a:rPr/>
              <a:t>Per </a:t>
            </a:r>
            <a:r>
              <a:rPr b="1"/>
              <a:t>prodotti con elementi digitali</a:t>
            </a:r>
            <a:r>
              <a:rPr/>
              <a:t> in UE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 — cosa cambia per gli sviluppatori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Cybersecurity by design e by default</a:t>
            </a:r>
          </a:p>
          <a:p>
            <a:pPr lvl="0"/>
            <a:r>
              <a:rPr b="1"/>
              <a:t>Niente vulnerabilità note</a:t>
            </a:r>
            <a:r>
              <a:rPr/>
              <a:t> alla vendita</a:t>
            </a:r>
          </a:p>
          <a:p>
            <a:pPr lvl="0"/>
            <a:r>
              <a:rPr/>
              <a:t>Patching durante “supporto previsto” (≥5 anni)</a:t>
            </a:r>
          </a:p>
          <a:p>
            <a:pPr lvl="0"/>
            <a:r>
              <a:rPr b="1"/>
              <a:t>SBOM obbligatorio</a:t>
            </a:r>
          </a:p>
          <a:p>
            <a:pPr lvl="0"/>
            <a:r>
              <a:rPr/>
              <a:t>Notifica vulnerabilità sfruttate </a:t>
            </a:r>
            <a:r>
              <a:rPr b="1"/>
              <a:t>24h</a:t>
            </a:r>
            <a:r>
              <a:rPr/>
              <a:t> a ENISA</a:t>
            </a:r>
          </a:p>
          <a:p>
            <a:pPr lvl="0"/>
            <a:r>
              <a:rPr/>
              <a:t>Marcatura CE estesa al cyber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 — categorie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Esempio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Conformità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generiche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Importanti Classe 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Browser, antivirus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armonizzati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Importanti Classe II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OS, hypervisor, firewall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Terza parte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HSM, smart card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Certificazione cyber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 — sanzioni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Violazione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Massimo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Requisiti essenziali non rispettati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15M€ o 2,5%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Altre violazioni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10M€ o 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 false alle autorità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5M€ o 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Tabella errore → norma (estratto)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Sanzione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 Injection con dati personali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 Art. 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 in MD5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 Art. 32(1)(a)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HTTPS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 Art. 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notifica 72h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GDPR Art. 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SBOM (CRA)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 Art. 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15M€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MFA (NIS 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 2 Art. 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10M€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italiano — banca password chiaro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2023: piccola banca italiana</a:t>
            </a:r>
          </a:p>
          <a:p>
            <a:pPr lvl="0"/>
            <a:r>
              <a:rPr/>
              <a:t>DB con password in chiaro</a:t>
            </a:r>
          </a:p>
          <a:p>
            <a:pPr lvl="0"/>
            <a:r>
              <a:rPr/>
              <a:t>Sanzione: ~600.000€</a:t>
            </a:r>
          </a:p>
          <a:p>
            <a:pPr lvl="0"/>
            <a:r>
              <a:rPr/>
              <a:t>Art. 32(1)(a)</a:t>
            </a:r>
          </a:p>
          <a:p>
            <a:pPr lvl="0"/>
            <a:r>
              <a:rPr b="1"/>
              <a:t>Era prevenibile con bcrypt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italiano — comune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2023: graduatoria con dati ISEE pubblica online</a:t>
            </a:r>
          </a:p>
          <a:p>
            <a:pPr lvl="0"/>
            <a:r>
              <a:rPr/>
              <a:t>Sanzione: ~80.000€</a:t>
            </a:r>
          </a:p>
          <a:p>
            <a:pPr lvl="0"/>
            <a:r>
              <a:rPr/>
              <a:t>Art. 5(1)(f), 32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italiano — IDOR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2022: URL </a:t>
            </a:r>
            <a:r>
              <a:rPr>
                <a:latin typeface="Courier"/>
              </a:rPr>
              <a:t>/ordine/&lt;id&gt;</a:t>
            </a:r>
            <a:r>
              <a:rPr/>
              <a:t> non protetti</a:t>
            </a:r>
          </a:p>
          <a:p>
            <a:pPr lvl="0"/>
            <a:r>
              <a:rPr/>
              <a:t>Sanzione: ~100.000€</a:t>
            </a:r>
          </a:p>
          <a:p>
            <a:pPr lvl="0"/>
            <a:r>
              <a:rPr b="1"/>
              <a:t>Ownership check sarebbe bastato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italiano — token API su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2024: app delivery espone API token</a:t>
            </a:r>
          </a:p>
          <a:p>
            <a:pPr lvl="0"/>
            <a:r>
              <a:rPr/>
              <a:t>Sanzione: ~250.000€</a:t>
            </a:r>
          </a:p>
          <a:p>
            <a:pPr lvl="0"/>
            <a:r>
              <a:rPr b="1"/>
              <a:t>Secrets management + pre-commit hook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Diagramma post-breach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Scoperta breach
    ↓
T+0:    STOP, documenta, avvisa CSO/DPO
    ↓
T+1h:   Contenimento (isola, blocca, ruota)
    ↓
NIS 2?  → Early warning 24h
    ↓
Dati personali? → Notifica Garante 72h
    ↓
Rischio alto? → Comunica anche interessati
    ↓
T+30gg: Report finale (NIS 2)
    ↓
Post-mortem + threat model update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si applicano insieme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Banca italiana → breach con dati personali:</a:t>
            </a:r>
          </a:p>
          <a:p>
            <a:pPr lvl="0"/>
            <a:r>
              <a:rPr b="1"/>
              <a:t>GDPR</a:t>
            </a:r>
            <a:r>
              <a:rPr/>
              <a:t>: notifica 72h, fino a 20M€</a:t>
            </a:r>
          </a:p>
          <a:p>
            <a:pPr lvl="0"/>
            <a:r>
              <a:rPr b="1"/>
              <a:t>NIS 2</a:t>
            </a:r>
            <a:r>
              <a:rPr/>
              <a:t>: 24h + 72h + 30gg, fino a 10M€</a:t>
            </a:r>
          </a:p>
          <a:p>
            <a:pPr lvl="0" indent="0" marL="1270000">
              <a:buNone/>
            </a:pPr>
            <a:r>
              <a:rPr sz="2000"/>
              <a:t>Sanzioni si </a:t>
            </a:r>
            <a:r>
              <a:rPr sz="2000" b="1"/>
              <a:t>cumulano</a:t>
            </a:r>
            <a:r>
              <a:rPr sz="2000"/>
              <a:t> + management sospeso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Q1. Notifica breach al Garante? </a:t>
            </a:r>
            <a:r>
              <a:rPr b="1"/>
              <a:t>72h</a:t>
            </a:r>
            <a:r>
              <a:rPr/>
              <a:t> Q2. Articolo Privacy by Design? </a:t>
            </a:r>
            <a:r>
              <a:rPr b="1"/>
              <a:t>Art. 25</a:t>
            </a:r>
            <a:r>
              <a:rPr/>
              <a:t> Q3. Sanzione massima GDPR? </a:t>
            </a:r>
            <a:r>
              <a:rPr b="1"/>
              <a:t>20M€ o 4%</a:t>
            </a:r>
            <a:r>
              <a:rPr/>
              <a:t> Q4. CRA in vigore pieno? </a:t>
            </a:r>
            <a:r>
              <a:rPr b="1"/>
              <a:t>Dicembre 2027</a:t>
            </a:r>
            <a:r>
              <a:rPr/>
              <a:t> Q5. NIS 2 prevede MFA? </a:t>
            </a:r>
            <a:r>
              <a:rPr b="1"/>
              <a:t>Sì (Art. 21)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M5 — Security &amp; Privacy by Design (3h)</a:t>
            </a:r>
          </a:p>
          <a:p>
            <a:pPr lvl="0" indent="0" marL="0">
              <a:buNone/>
            </a:pPr>
            <a:r>
              <a:rPr/>
              <a:t>Sai cosa la legge richiede. Ora come si applica </a:t>
            </a:r>
            <a:r>
              <a:rPr b="1"/>
              <a:t>a progetto</a:t>
            </a:r>
            <a:r>
              <a:rPr/>
              <a:t>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— Quadro Normativo Europeo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