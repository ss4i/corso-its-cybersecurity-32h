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50" Type="http://schemas.openxmlformats.org/officeDocument/2006/relationships/viewProps" Target="viewProps.xml" /><Relationship Id="rId4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2" Type="http://schemas.openxmlformats.org/officeDocument/2006/relationships/tableStyles" Target="tableStyles.xml" /><Relationship Id="rId5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EXTRA — Logging &amp; Monitoring (OWASP A09)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Corso ITS Cybersecurity — Modulo Avanzato</a:t>
            </a:r>
            <a:br/>
            <a:br/>
            <a:r>
              <a:rPr/>
              <a:t>Ing. Alessandro Manneschi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ITS Prodigi · ITS Empoli · SS4I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EXTRA — Logging &amp; Monitoring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 ore — OWASP A09, audit log, SIEM, SOC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Obiettivi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Perché il logging è una difesa</a:t>
            </a:r>
          </a:p>
          <a:p>
            <a:pPr lvl="0"/>
            <a:r>
              <a:rPr/>
              <a:t>Cosa loggi (e cosa no)</a:t>
            </a:r>
          </a:p>
          <a:p>
            <a:pPr lvl="0"/>
            <a:r>
              <a:rPr/>
              <a:t>Structured logging (ECS, OpenTelemetry)</a:t>
            </a:r>
          </a:p>
          <a:p>
            <a:pPr lvl="0"/>
            <a:r>
              <a:rPr/>
              <a:t>Audit log immutabile</a:t>
            </a:r>
          </a:p>
          <a:p>
            <a:pPr lvl="0"/>
            <a:r>
              <a:rPr/>
              <a:t>SIEM ingestion</a:t>
            </a:r>
          </a:p>
          <a:p>
            <a:pPr lvl="0"/>
            <a:r>
              <a:rPr/>
              <a:t>Detection patterns</a:t>
            </a:r>
          </a:p>
          <a:p>
            <a:pPr lvl="0"/>
            <a:r>
              <a:rPr/>
              <a:t>SOC basics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numero che fa pensare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204 giorni</a:t>
            </a:r>
            <a:r>
              <a:rPr sz="2000"/>
              <a:t> — tempo medio per identificare un breach </a:t>
            </a:r>
            <a:r>
              <a:rPr sz="2000" b="1"/>
              <a:t>73 giorni</a:t>
            </a:r>
            <a:r>
              <a:rPr sz="2000"/>
              <a:t> — tempo medio per contenerlo </a:t>
            </a:r>
            <a:r>
              <a:rPr sz="2000" b="1"/>
              <a:t>Totale: 277 giorni</a:t>
            </a:r>
            <a:r>
              <a:rPr sz="2000"/>
              <a:t> di compromissione tipica</a:t>
            </a:r>
          </a:p>
          <a:p>
            <a:pPr lvl="0" indent="0" marL="1270000">
              <a:buNone/>
            </a:pPr>
            <a:r>
              <a:rPr sz="2000" i="1"/>
              <a:t>(IBM Cost of a Data Breach Report 2023)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3 outcome possibili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Quando un’azienda viene attaccata:</a:t>
            </a:r>
          </a:p>
          <a:p>
            <a:pPr lvl="0" indent="-342900" marL="342900">
              <a:buAutoNum type="arabicPeriod"/>
            </a:pPr>
            <a:r>
              <a:rPr b="1"/>
              <a:t>Non lo sa</a:t>
            </a:r>
            <a:r>
              <a:rPr/>
              <a:t> (caso comune): scopre quando i dati sono in vendita</a:t>
            </a:r>
          </a:p>
          <a:p>
            <a:pPr lvl="0" indent="-342900" marL="342900">
              <a:buAutoNum type="arabicPeriod"/>
            </a:pPr>
            <a:r>
              <a:rPr b="1"/>
              <a:t>Lo sa tardi</a:t>
            </a:r>
            <a:r>
              <a:rPr/>
              <a:t>: rileva quando il danno è esteso</a:t>
            </a:r>
          </a:p>
          <a:p>
            <a:pPr lvl="0" indent="-342900" marL="342900">
              <a:buAutoNum type="arabicPeriod"/>
            </a:pPr>
            <a:r>
              <a:rPr b="1"/>
              <a:t>Lo sa subito</a:t>
            </a:r>
            <a:r>
              <a:rPr/>
              <a:t>: contiene in ore</a:t>
            </a:r>
          </a:p>
          <a:p>
            <a:pPr lvl="0" indent="0" marL="1270000">
              <a:buNone/>
            </a:pPr>
            <a:r>
              <a:rPr sz="2000"/>
              <a:t>Differenza 2→3: </a:t>
            </a:r>
            <a:r>
              <a:rPr sz="2000" b="1"/>
              <a:t>logging + monitoring + alerting</a:t>
            </a:r>
            <a:r>
              <a:rPr sz="2000"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OWASP A09 — Cosa significa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Eventi importanti </a:t>
            </a:r>
            <a:r>
              <a:rPr b="1"/>
              <a:t>non loggati</a:t>
            </a:r>
          </a:p>
          <a:p>
            <a:pPr lvl="0"/>
            <a:r>
              <a:rPr/>
              <a:t>Log </a:t>
            </a:r>
            <a:r>
              <a:rPr b="1"/>
              <a:t>non monitorati</a:t>
            </a:r>
          </a:p>
          <a:p>
            <a:pPr lvl="0"/>
            <a:r>
              <a:rPr/>
              <a:t>Log </a:t>
            </a:r>
            <a:r>
              <a:rPr b="1"/>
              <a:t>modificabili</a:t>
            </a:r>
            <a:r>
              <a:rPr/>
              <a:t> (no immutabilità)</a:t>
            </a:r>
          </a:p>
          <a:p>
            <a:pPr lvl="0"/>
            <a:r>
              <a:rPr b="1"/>
              <a:t>Nessun alert</a:t>
            </a:r>
            <a:r>
              <a:rPr/>
              <a:t> automatico</a:t>
            </a:r>
          </a:p>
          <a:p>
            <a:pPr lvl="0"/>
            <a:r>
              <a:rPr/>
              <a:t>Alert </a:t>
            </a:r>
            <a:r>
              <a:rPr b="1"/>
              <a:t>ignorati</a:t>
            </a:r>
            <a:r>
              <a:rPr/>
              <a:t> (fatigue)</a:t>
            </a:r>
          </a:p>
          <a:p>
            <a:pPr lvl="0"/>
            <a:r>
              <a:rPr/>
              <a:t>Log </a:t>
            </a:r>
            <a:r>
              <a:rPr b="1"/>
              <a:t>insufficienti</a:t>
            </a:r>
            <a:r>
              <a:rPr/>
              <a:t> per investigazione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Cosa DEVI loggare — Auth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Login OK (user, IP, MFA, UA)</a:t>
            </a:r>
          </a:p>
          <a:p>
            <a:pPr lvl="0"/>
            <a:r>
              <a:rPr/>
              <a:t>Login FAIL (motivo: wrong-pw, locked, mfa-fail)</a:t>
            </a:r>
          </a:p>
          <a:p>
            <a:pPr lvl="0"/>
            <a:r>
              <a:rPr/>
              <a:t>Logout</a:t>
            </a:r>
          </a:p>
          <a:p>
            <a:pPr lvl="0"/>
            <a:r>
              <a:rPr/>
              <a:t>Cambio password</a:t>
            </a:r>
          </a:p>
          <a:p>
            <a:pPr lvl="0"/>
            <a:r>
              <a:rPr/>
              <a:t>Reset password (richiesta + completamento)</a:t>
            </a:r>
          </a:p>
          <a:p>
            <a:pPr lvl="0"/>
            <a:r>
              <a:rPr/>
              <a:t>Account locked / unlocked</a:t>
            </a:r>
          </a:p>
          <a:p>
            <a:pPr lvl="0"/>
            <a:r>
              <a:rPr/>
              <a:t>MFA enrollment / uso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Cosa DEVI loggare — Authz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Modifica ruoli/permessi</a:t>
            </a:r>
          </a:p>
          <a:p>
            <a:pPr lvl="0"/>
            <a:r>
              <a:rPr/>
              <a:t>Accesso a risorse sensibili</a:t>
            </a:r>
          </a:p>
          <a:p>
            <a:pPr lvl="0"/>
            <a:r>
              <a:rPr/>
              <a:t>Tentativi accesso negato (403)</a:t>
            </a:r>
          </a:p>
          <a:p>
            <a:pPr lvl="0"/>
            <a:r>
              <a:rPr/>
              <a:t>Privilege escalation tentata/riuscita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Cosa DEVI loggare —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Transazioni (creazione, modifica, conferma)</a:t>
            </a:r>
          </a:p>
          <a:p>
            <a:pPr lvl="0"/>
            <a:r>
              <a:rPr/>
              <a:t>Creazione/cancellazione account</a:t>
            </a:r>
          </a:p>
          <a:p>
            <a:pPr lvl="0"/>
            <a:r>
              <a:rPr/>
              <a:t>Export dati</a:t>
            </a:r>
          </a:p>
          <a:p>
            <a:pPr lvl="0"/>
            <a:r>
              <a:rPr/>
              <a:t>Modifica dati personali</a:t>
            </a:r>
          </a:p>
          <a:p>
            <a:pPr lvl="0"/>
            <a:r>
              <a:rPr/>
              <a:t>Operazioni amministrative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Cosa DEVI loggare — Tecnico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Errori 5xx con context completo</a:t>
            </a:r>
          </a:p>
          <a:p>
            <a:pPr lvl="0"/>
            <a:r>
              <a:rPr/>
              <a:t>Crash / eccezioni non gestite</a:t>
            </a:r>
          </a:p>
          <a:p>
            <a:pPr lvl="0"/>
            <a:r>
              <a:rPr/>
              <a:t>Restart applicazione</a:t>
            </a:r>
          </a:p>
          <a:p>
            <a:pPr lvl="0"/>
            <a:r>
              <a:rPr/>
              <a:t>Modifiche configurazione</a:t>
            </a:r>
          </a:p>
          <a:p>
            <a:pPr lvl="0"/>
            <a:r>
              <a:rPr/>
              <a:t>Tentativi SQLi/XSS rilevati</a:t>
            </a:r>
          </a:p>
          <a:p>
            <a:pPr lvl="0"/>
            <a:r>
              <a:rPr/>
              <a:t>Rate limit attivato</a:t>
            </a:r>
          </a:p>
          <a:p>
            <a:pPr lvl="0"/>
            <a:r>
              <a:rPr/>
              <a:t>Anomaly detection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Cosa NON DEVI loggare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🚫 Mai in chiaro: - Password (anche temporanee) - Token completi (solo prefisso) - Carta credito intera (solo last 4) - CF / SSN intero - Chiavi API - Cookie sessione completi - PII non strettamente necessaria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GDPR vs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Conflitto: GDPR vuole minimizzazione, sicurezza vuole loggare.</a:t>
            </a:r>
          </a:p>
          <a:p>
            <a:pPr lvl="0" indent="0" marL="0">
              <a:buNone/>
            </a:pPr>
            <a:r>
              <a:rPr/>
              <a:t>Risoluzione: - </a:t>
            </a:r>
            <a:r>
              <a:rPr b="1"/>
              <a:t>Identifier</a:t>
            </a:r>
            <a:r>
              <a:rPr/>
              <a:t> (</a:t>
            </a:r>
            <a:r>
              <a:rPr>
                <a:latin typeface="Courier"/>
              </a:rPr>
              <a:t>user_id=123</a:t>
            </a:r>
            <a:r>
              <a:rPr/>
              <a:t>), non email - </a:t>
            </a:r>
            <a:r>
              <a:rPr b="1"/>
              <a:t>Pseudonimizza</a:t>
            </a:r>
            <a:r>
              <a:rPr/>
              <a:t> dove possibile - </a:t>
            </a:r>
            <a:r>
              <a:rPr b="1"/>
              <a:t>Retention</a:t>
            </a:r>
            <a:r>
              <a:rPr/>
              <a:t> definita (60-90gg) - </a:t>
            </a:r>
            <a:r>
              <a:rPr b="1"/>
              <a:t>Cancellazione</a:t>
            </a:r>
            <a:r>
              <a:rPr/>
              <a:t> su richiesta (Art. 17) - Log </a:t>
            </a:r>
            <a:r>
              <a:rPr b="1"/>
              <a:t>inclusi</a:t>
            </a:r>
            <a:r>
              <a:rPr/>
              <a:t> nella DPIA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Cosa va in che log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Audit log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user_id interno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(o redatta)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password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MAI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MAI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Session 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solo prefisso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solo prefisso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Stack trace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interno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Logging non strutturato — antipattern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🚩</a:t>
            </a:r>
            <a:br/>
            <a:r>
              <a:rPr>
                <a:latin typeface="Courier"/>
              </a:rPr>
              <a:t>logger.info(</a:t>
            </a:r>
            <a:r>
              <a:rPr>
                <a:solidFill>
                  <a:srgbClr val="BB6688"/>
                </a:solidFill>
                <a:latin typeface="Courier"/>
              </a:rPr>
              <a:t>f"User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uid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logged in from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ip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Output:</a:t>
            </a:r>
          </a:p>
          <a:p>
            <a:pPr lvl="0" indent="0">
              <a:buNone/>
            </a:pPr>
            <a:r>
              <a:rPr>
                <a:latin typeface="Courier"/>
              </a:rPr>
              <a:t>2026-05-06 14:32 INFO User 123 logged in from 1.2.3.4</a:t>
            </a:r>
          </a:p>
          <a:p>
            <a:pPr lvl="0" indent="0" marL="0">
              <a:buNone/>
            </a:pPr>
            <a:r>
              <a:rPr/>
              <a:t>Problema: grep + regex fragile. SIEM fatica.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Structured logging —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✅</a:t>
            </a:r>
            <a:br/>
            <a:r>
              <a:rPr>
                <a:latin typeface="Courier"/>
              </a:rPr>
              <a:t>logger.info(</a:t>
            </a:r>
            <a:r>
              <a:rPr>
                <a:solidFill>
                  <a:srgbClr val="4070A0"/>
                </a:solidFill>
                <a:latin typeface="Courier"/>
              </a:rPr>
              <a:t>"login.success"</a:t>
            </a:r>
            <a:r>
              <a:rPr>
                <a:latin typeface="Courier"/>
              </a:rPr>
              <a:t>, extra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"event_type"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"auth.login.success"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"user_id"</a:t>
            </a:r>
            <a:r>
              <a:rPr>
                <a:latin typeface="Courier"/>
              </a:rPr>
              <a:t>: uid,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"ip"</a:t>
            </a:r>
            <a:r>
              <a:rPr>
                <a:latin typeface="Courier"/>
              </a:rPr>
              <a:t>: ip,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"user_agent"</a:t>
            </a:r>
            <a:r>
              <a:rPr>
                <a:latin typeface="Courier"/>
              </a:rPr>
              <a:t>: ua,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"mfa_used"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})</a:t>
            </a:r>
          </a:p>
          <a:p>
            <a:pPr lvl="0" indent="0" marL="0">
              <a:buNone/>
            </a:pPr>
            <a:r>
              <a:rPr/>
              <a:t>Output JSON.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Implementazione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pythonjsonlogger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jsonlogger</a:t>
            </a:r>
            <a:br/>
            <a:r>
              <a:rPr>
                <a:latin typeface="Courier"/>
              </a:rPr>
              <a:t>handler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logging.StreamHandler()</a:t>
            </a:r>
            <a:br/>
            <a:r>
              <a:rPr>
                <a:latin typeface="Courier"/>
              </a:rPr>
              <a:t>handler.setFormatter(jsonlogger.JsonFormatter(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"%(asctime)s %(levelname)s %(message)s"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rename_fields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{</a:t>
            </a:r>
            <a:r>
              <a:rPr>
                <a:solidFill>
                  <a:srgbClr val="4070A0"/>
                </a:solidFill>
                <a:latin typeface="Courier"/>
              </a:rPr>
              <a:t>"asctime"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"ts"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"levelname"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"level"</a:t>
            </a:r>
            <a:r>
              <a:rPr>
                <a:latin typeface="Courier"/>
              </a:rPr>
              <a:t>},</a:t>
            </a:r>
            <a:br/>
            <a:r>
              <a:rPr>
                <a:latin typeface="Courier"/>
              </a:rPr>
              <a:t>))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 di formato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3500"/>
                <a:gridCol w="3086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Elastic Common Schema (ECS)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Elastic, campi </a:t>
                      </a:r>
                      <a:r>
                        <a:rPr>
                          <a:latin typeface="Courier"/>
                        </a:rPr>
                        <a:t>event.action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user.id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OpenTelemetry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CNCF, logs+traces+metrics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Usa uno dei due. Non dialetto custom.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Esempio ECS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logger.info(</a:t>
            </a:r>
            <a:r>
              <a:rPr>
                <a:solidFill>
                  <a:srgbClr val="4070A0"/>
                </a:solidFill>
                <a:latin typeface="Courier"/>
              </a:rPr>
              <a:t>"login attempt"</a:t>
            </a:r>
            <a:r>
              <a:rPr>
                <a:latin typeface="Courier"/>
              </a:rPr>
              <a:t>, extra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"event"</a:t>
            </a:r>
            <a:r>
              <a:rPr>
                <a:latin typeface="Courier"/>
              </a:rPr>
              <a:t>: 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"action"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"login_failed"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"category"</a:t>
            </a:r>
            <a:r>
              <a:rPr>
                <a:latin typeface="Courier"/>
              </a:rPr>
              <a:t>: [</a:t>
            </a:r>
            <a:r>
              <a:rPr>
                <a:solidFill>
                  <a:srgbClr val="4070A0"/>
                </a:solidFill>
                <a:latin typeface="Courier"/>
              </a:rPr>
              <a:t>"authentication"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"outcome"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"failure"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},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"user"</a:t>
            </a:r>
            <a:r>
              <a:rPr>
                <a:latin typeface="Courier"/>
              </a:rPr>
              <a:t>: {</a:t>
            </a:r>
            <a:r>
              <a:rPr>
                <a:solidFill>
                  <a:srgbClr val="4070A0"/>
                </a:solidFill>
                <a:latin typeface="Courier"/>
              </a:rPr>
              <a:t>"name"</a:t>
            </a:r>
            <a:r>
              <a:rPr>
                <a:latin typeface="Courier"/>
              </a:rPr>
              <a:t>: email_input},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"source"</a:t>
            </a:r>
            <a:r>
              <a:rPr>
                <a:latin typeface="Courier"/>
              </a:rPr>
              <a:t>: {</a:t>
            </a:r>
            <a:r>
              <a:rPr>
                <a:solidFill>
                  <a:srgbClr val="4070A0"/>
                </a:solidFill>
                <a:latin typeface="Courier"/>
              </a:rPr>
              <a:t>"ip"</a:t>
            </a:r>
            <a:r>
              <a:rPr>
                <a:latin typeface="Courier"/>
              </a:rPr>
              <a:t>: request.remote_addr},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"http"</a:t>
            </a:r>
            <a:r>
              <a:rPr>
                <a:latin typeface="Courier"/>
              </a:rPr>
              <a:t>: {</a:t>
            </a:r>
            <a:r>
              <a:rPr>
                <a:solidFill>
                  <a:srgbClr val="4070A0"/>
                </a:solidFill>
                <a:latin typeface="Courier"/>
              </a:rPr>
              <a:t>"response"</a:t>
            </a:r>
            <a:r>
              <a:rPr>
                <a:latin typeface="Courier"/>
              </a:rPr>
              <a:t>: {</a:t>
            </a:r>
            <a:r>
              <a:rPr>
                <a:solidFill>
                  <a:srgbClr val="4070A0"/>
                </a:solidFill>
                <a:latin typeface="Courier"/>
              </a:rPr>
              <a:t>"status_code"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401</a:t>
            </a:r>
            <a:r>
              <a:rPr>
                <a:latin typeface="Courier"/>
              </a:rPr>
              <a:t>}},</a:t>
            </a:r>
            <a:br/>
            <a:r>
              <a:rPr>
                <a:latin typeface="Courier"/>
              </a:rPr>
              <a:t>})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 log vs Audit log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Audit log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Debug, errori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Tracciabilità azioni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Durata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Breve (7-30gg)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Lunga (2+ anni)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Modificabile?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Volume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log — proprietà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Completo</a:t>
            </a:r>
            <a:r>
              <a:rPr/>
              <a:t>: chi/cosa/quando/dove/risultato</a:t>
            </a:r>
          </a:p>
          <a:p>
            <a:pPr lvl="0"/>
            <a:r>
              <a:rPr b="1"/>
              <a:t>Immutabile</a:t>
            </a:r>
            <a:r>
              <a:rPr/>
              <a:t>: append-only</a:t>
            </a:r>
          </a:p>
          <a:p>
            <a:pPr lvl="0"/>
            <a:r>
              <a:rPr b="1"/>
              <a:t>Sequenziale</a:t>
            </a:r>
            <a:r>
              <a:rPr/>
              <a:t>: monotonic seq</a:t>
            </a:r>
          </a:p>
          <a:p>
            <a:pPr lvl="0"/>
            <a:r>
              <a:rPr b="1"/>
              <a:t>Verificabile</a:t>
            </a:r>
            <a:r>
              <a:rPr/>
              <a:t>: hash chain</a:t>
            </a:r>
          </a:p>
          <a:p>
            <a:pPr lvl="0"/>
            <a:r>
              <a:rPr b="1"/>
              <a:t>Retention</a:t>
            </a:r>
            <a:r>
              <a:rPr/>
              <a:t>: 2-7 anni</a:t>
            </a:r>
          </a:p>
          <a:p>
            <a:pPr lvl="0"/>
            <a:r>
              <a:rPr b="1"/>
              <a:t>Compliance</a:t>
            </a:r>
            <a:r>
              <a:rPr/>
              <a:t>: GDPR Art. 30, NIS 2 Art. 21, SOX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log — esempio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"audit_id"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"01HVZAKE2X4..."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"ts"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"2026-05-06T14:32:15Z"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"actor"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solidFill>
                  <a:srgbClr val="902000"/>
                </a:solidFill>
                <a:latin typeface="Courier"/>
              </a:rPr>
              <a:t>"type"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"user"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123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"ip"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"1.2.3.4"</a:t>
            </a:r>
            <a:r>
              <a:rPr>
                <a:solidFill>
                  <a:srgbClr val="06287E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"action"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"delete"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"resource"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solidFill>
                  <a:srgbClr val="902000"/>
                </a:solidFill>
                <a:latin typeface="Courier"/>
              </a:rPr>
              <a:t>"type"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"invoice"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456</a:t>
            </a:r>
            <a:r>
              <a:rPr>
                <a:solidFill>
                  <a:srgbClr val="06287E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"outcome"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"success"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"prev_hash"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"ab12cd..."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"self_hash"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"ef56gh..."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log immutabile —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Audit DB </a:t>
            </a:r>
            <a:r>
              <a:rPr b="1"/>
              <a:t>separato</a:t>
            </a:r>
            <a:r>
              <a:rPr/>
              <a:t> dall’app DB</a:t>
            </a:r>
          </a:p>
          <a:p>
            <a:pPr lvl="0" indent="-342900" marL="342900">
              <a:buAutoNum type="arabicPeriod"/>
            </a:pPr>
            <a:r>
              <a:rPr/>
              <a:t>Solo INSERT (no DELETE/UPDATE per app user)</a:t>
            </a:r>
          </a:p>
          <a:p>
            <a:pPr lvl="0" indent="-342900" marL="342900">
              <a:buAutoNum type="arabicPeriod"/>
            </a:pPr>
            <a:r>
              <a:rPr b="1"/>
              <a:t>Hash chain</a:t>
            </a:r>
            <a:r>
              <a:rPr/>
              <a:t>: </a:t>
            </a:r>
            <a:r>
              <a:rPr>
                <a:latin typeface="Courier"/>
              </a:rPr>
              <a:t>self = SHA256(prev + entry)</a:t>
            </a:r>
          </a:p>
          <a:p>
            <a:pPr lvl="0" indent="-342900" marL="342900">
              <a:buAutoNum type="arabicPeriod"/>
            </a:pPr>
            <a:r>
              <a:rPr/>
              <a:t>Backup append-only su S3 Object Lock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Hash chain — codice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append_audit(actor, action, resource, prev_hash):</a:t>
            </a:r>
            <a:br/>
            <a:r>
              <a:rPr>
                <a:latin typeface="Courier"/>
              </a:rPr>
              <a:t>    entry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"audit_id"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(ulid.new()),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"ts"</a:t>
            </a:r>
            <a:r>
              <a:rPr>
                <a:latin typeface="Courier"/>
              </a:rPr>
              <a:t>: time.time(),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"actor"</a:t>
            </a:r>
            <a:r>
              <a:rPr>
                <a:latin typeface="Courier"/>
              </a:rPr>
              <a:t>: actor, </a:t>
            </a:r>
            <a:r>
              <a:rPr>
                <a:solidFill>
                  <a:srgbClr val="4070A0"/>
                </a:solidFill>
                <a:latin typeface="Courier"/>
              </a:rPr>
              <a:t>"action"</a:t>
            </a:r>
            <a:r>
              <a:rPr>
                <a:latin typeface="Courier"/>
              </a:rPr>
              <a:t>: action,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"resource"</a:t>
            </a:r>
            <a:r>
              <a:rPr>
                <a:latin typeface="Courier"/>
              </a:rPr>
              <a:t>: resource,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"prev_hash"</a:t>
            </a:r>
            <a:r>
              <a:rPr>
                <a:latin typeface="Courier"/>
              </a:rPr>
              <a:t>: prev_hash,</a:t>
            </a:r>
            <a:br/>
            <a:r>
              <a:rPr>
                <a:latin typeface="Courier"/>
              </a:rPr>
              <a:t>    }</a:t>
            </a:r>
            <a:br/>
            <a:r>
              <a:rPr>
                <a:latin typeface="Courier"/>
              </a:rPr>
              <a:t>    self_hash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hashlib.sha256(</a:t>
            </a:r>
            <a:br/>
            <a:r>
              <a:rPr>
                <a:latin typeface="Courier"/>
              </a:rPr>
              <a:t>        (prev_hash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json.dumps(entry, sort_keys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)).encode()</a:t>
            </a:r>
            <a:br/>
            <a:r>
              <a:rPr>
                <a:latin typeface="Courier"/>
              </a:rPr>
              <a:t>    ).hexdigest()</a:t>
            </a:r>
            <a:br/>
            <a:r>
              <a:rPr>
                <a:latin typeface="Courier"/>
              </a:rPr>
              <a:t>    entry[</a:t>
            </a:r>
            <a:r>
              <a:rPr>
                <a:solidFill>
                  <a:srgbClr val="4070A0"/>
                </a:solidFill>
                <a:latin typeface="Courier"/>
              </a:rPr>
              <a:t>"self_hash"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self_hash</a:t>
            </a:r>
            <a:br/>
            <a:r>
              <a:rPr>
                <a:latin typeface="Courier"/>
              </a:rPr>
              <a:t>    db.audit.insert_one(entry)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self_hash</a:t>
            </a:r>
          </a:p>
          <a:p>
            <a:pPr lvl="0" indent="0" marL="0">
              <a:buNone/>
            </a:pPr>
            <a:r>
              <a:rPr/>
              <a:t>Job periodico ricalcola → tampering rilevato.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SIEM — architettura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[App] ─stdout JSON─► [Filebeat/Vector] ─► [Logstash/Kafka] ─► [Elastic/Splunk]
                                                                    │
                                                                    ▼
                                                              [Dashboard]
                                                              [Alert] [SOC]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SIEM — pattern di ingestion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Stdout + log shipper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12-factor, decoupled 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HTTP push diretto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 sa del SIEM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Message queue (Kafka)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volume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Log su stdout (no file diretti)</a:t>
            </a:r>
          </a:p>
          <a:p>
            <a:pPr lvl="0"/>
            <a:r>
              <a:rPr/>
              <a:t>Async send (non bloccare request)</a:t>
            </a:r>
          </a:p>
          <a:p>
            <a:pPr lvl="0"/>
            <a:r>
              <a:rPr/>
              <a:t>Backpressure: SIEM down → buffer locale</a:t>
            </a:r>
          </a:p>
          <a:p>
            <a:pPr lvl="0"/>
            <a:r>
              <a:rPr/>
              <a:t>Retry con jitter</a:t>
            </a:r>
          </a:p>
          <a:p>
            <a:pPr lvl="0"/>
            <a:r>
              <a:rPr/>
              <a:t>Drop low-priority se backlog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Detection — Brute 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event_type=auth.login.failure
| stats count by source.ip span=5m
| where count &gt; 10</a:t>
            </a:r>
          </a:p>
          <a:p>
            <a:pPr lvl="0" indent="0" marL="1270000">
              <a:buNone/>
            </a:pPr>
            <a:r>
              <a:rPr sz="2000"/>
              <a:t>10+ failed in 5 min stesso IP → alert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Detection — Account takeover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1. Calcola "paese tipico" per ogni utente
2. Login da paese diverso a distanza temporale impossibile:
   "alice da Italia 14:00, alice da India 14:30"
   → alert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Detection — Privilege escalation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event_type=authz.role_changed
| actor.role!=admin | new_role=admin</a:t>
            </a:r>
          </a:p>
          <a:p>
            <a:pPr lvl="0" indent="0" marL="1270000">
              <a:buNone/>
            </a:pPr>
            <a:r>
              <a:rPr sz="2000"/>
              <a:t>Non-admin diventa admin → alert + review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Detection — IDOR enumeration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event_type=authz.access_denied
| http.response.status_code=403
| stats count by user_id span=5m
| where count &gt; 30</a:t>
            </a:r>
          </a:p>
          <a:p>
            <a:pPr lvl="0" indent="0" marL="1270000">
              <a:buNone/>
            </a:pPr>
            <a:r>
              <a:rPr sz="2000"/>
              <a:t>30+ 403 in 5 min stesso user → brute-forcing IDOR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Detection — Exfiltration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event_type=data.export
| bytes_exported &gt; NORMAL_BASELINE * 10</a:t>
            </a:r>
          </a:p>
          <a:p>
            <a:pPr lvl="0" indent="0" marL="1270000">
              <a:buNone/>
            </a:pPr>
            <a:r>
              <a:rPr sz="2000"/>
              <a:t>Volume 10x del solito → alert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Pattern avanzati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UEBA</a:t>
            </a:r>
            <a:r>
              <a:rPr/>
              <a:t>: ML su comportamento</a:t>
            </a:r>
          </a:p>
          <a:p>
            <a:pPr lvl="0"/>
            <a:r>
              <a:rPr b="1"/>
              <a:t>Threat intelligence</a:t>
            </a:r>
            <a:r>
              <a:rPr/>
              <a:t>: blocca IP in liste TI (TOR, malicious)</a:t>
            </a:r>
          </a:p>
          <a:p>
            <a:pPr lvl="0"/>
            <a:r>
              <a:rPr b="1"/>
              <a:t>Correlation</a:t>
            </a:r>
            <a:r>
              <a:rPr/>
              <a:t>: 5 fail + 1 success = credential stuffing riuscito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Alert fatigue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SOC riceve </a:t>
            </a:r>
            <a:r>
              <a:rPr sz="2000" b="1"/>
              <a:t>mediamente 11.000 alert/giorno</a:t>
            </a:r>
            <a:r>
              <a:rPr sz="2000"/>
              <a:t>. Solo </a:t>
            </a:r>
            <a:r>
              <a:rPr sz="2000" b="1"/>
              <a:t>30% investigati</a:t>
            </a:r>
            <a:r>
              <a:rPr sz="2000"/>
              <a:t>. Tra questi, molti falsi positivi.</a:t>
            </a:r>
          </a:p>
          <a:p>
            <a:pPr lvl="0" indent="0" marL="1270000">
              <a:buNone/>
            </a:pPr>
            <a:r>
              <a:rPr sz="2000"/>
              <a:t>Risultato: alert reali si perdono.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Tuning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Severity tiers</a:t>
            </a:r>
            <a:r>
              <a:rPr/>
              <a:t>: Critical, High, Medium, Low</a:t>
            </a:r>
          </a:p>
          <a:p>
            <a:pPr lvl="0"/>
            <a:r>
              <a:rPr b="1"/>
              <a:t>Critical</a:t>
            </a:r>
            <a:r>
              <a:rPr/>
              <a:t> = page (24/7)</a:t>
            </a:r>
          </a:p>
          <a:p>
            <a:pPr lvl="0"/>
            <a:r>
              <a:rPr b="1"/>
              <a:t>High</a:t>
            </a:r>
            <a:r>
              <a:rPr/>
              <a:t> = ticket (in giornata)</a:t>
            </a:r>
          </a:p>
          <a:p>
            <a:pPr lvl="0"/>
            <a:r>
              <a:rPr b="1"/>
              <a:t>Medium/Low</a:t>
            </a:r>
            <a:r>
              <a:rPr/>
              <a:t> = batch review settimanale</a:t>
            </a:r>
          </a:p>
          <a:p>
            <a:pPr lvl="0"/>
            <a:r>
              <a:rPr b="1"/>
              <a:t>Tune mensile</a:t>
            </a:r>
            <a:r>
              <a:rPr/>
              <a:t>: alert con &gt;50% FP da rivedere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Esempio gerarchia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Severity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100+ fail login da IP in 1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Account takeover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Critical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Stack trace su 500 prod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50+ SQLi pattern in 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Modifica role to admin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Critical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Export &gt;1GB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Playbook per alert critical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Cosa significa</a:t>
            </a:r>
            <a:r>
              <a:rPr/>
              <a:t> l’alert?</a:t>
            </a:r>
          </a:p>
          <a:p>
            <a:pPr lvl="0" indent="-342900" marL="342900">
              <a:buAutoNum type="arabicPeriod"/>
            </a:pPr>
            <a:r>
              <a:rPr b="1"/>
              <a:t>Verifica</a:t>
            </a:r>
            <a:r>
              <a:rPr/>
              <a:t> rapida (FP?)</a:t>
            </a:r>
          </a:p>
          <a:p>
            <a:pPr lvl="0" indent="-342900" marL="342900">
              <a:buAutoNum type="arabicPeriod"/>
            </a:pPr>
            <a:r>
              <a:rPr b="1"/>
              <a:t>Contenimento</a:t>
            </a:r>
          </a:p>
          <a:p>
            <a:pPr lvl="0" indent="-342900" marL="342900">
              <a:buAutoNum type="arabicPeriod"/>
            </a:pPr>
            <a:r>
              <a:rPr b="1"/>
              <a:t>Indagine</a:t>
            </a:r>
          </a:p>
          <a:p>
            <a:pPr lvl="0" indent="-342900" marL="342900">
              <a:buAutoNum type="arabicPeriod"/>
            </a:pPr>
            <a:r>
              <a:rPr b="1"/>
              <a:t>Eradicazione</a:t>
            </a:r>
          </a:p>
          <a:p>
            <a:pPr lvl="0" indent="-342900" marL="342900">
              <a:buAutoNum type="arabicPeriod"/>
            </a:pPr>
            <a:r>
              <a:rPr b="1"/>
              <a:t>Recovery</a:t>
            </a:r>
          </a:p>
          <a:p>
            <a:pPr lvl="0" indent="-342900" marL="342900">
              <a:buAutoNum type="arabicPeriod"/>
            </a:pPr>
            <a:r>
              <a:rPr b="1"/>
              <a:t>Lessons learned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SOC tier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Cosa fa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Triagia, risolve banali, escalate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Investiga, forensics, contiene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Threat hunting, malware analysis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SOC interno vs MSSP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Interno</a:t>
            </a:r>
            <a:r>
              <a:rPr/>
              <a:t>: costoso (24/7 = ~10 persone)</a:t>
            </a:r>
          </a:p>
          <a:p>
            <a:pPr lvl="0"/>
            <a:r>
              <a:rPr b="1"/>
              <a:t>MSSP</a:t>
            </a:r>
            <a:r>
              <a:rPr/>
              <a:t>: outsourced</a:t>
            </a:r>
          </a:p>
          <a:p>
            <a:pPr lvl="0"/>
            <a:r>
              <a:rPr b="1"/>
              <a:t>MDR</a:t>
            </a:r>
            <a:r>
              <a:rPr/>
              <a:t>: detection+response gestita</a:t>
            </a:r>
          </a:p>
          <a:p>
            <a:pPr lvl="0"/>
            <a:r>
              <a:rPr b="1"/>
              <a:t>XDR</a:t>
            </a:r>
            <a:r>
              <a:rPr/>
              <a:t>: cross-domain (endpoint+email+cloud+network)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 il dev: cosa serve fare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 la tua azienda ha SOC, </a:t>
            </a:r>
            <a:r>
              <a:rPr b="1"/>
              <a:t>dovere developer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Loggare bene</a:t>
            </a:r>
          </a:p>
          <a:p>
            <a:pPr lvl="0" indent="-342900" marL="342900">
              <a:buAutoNum type="arabicPeriod"/>
            </a:pPr>
            <a:r>
              <a:rPr/>
              <a:t>Esporre webhook/integrazioni (lock account on demand)</a:t>
            </a:r>
          </a:p>
          <a:p>
            <a:pPr lvl="0" indent="-342900" marL="342900">
              <a:buAutoNum type="arabicPeriod"/>
            </a:pPr>
            <a:r>
              <a:rPr/>
              <a:t>Documentare formato/posizione log</a:t>
            </a:r>
          </a:p>
          <a:p>
            <a:pPr lvl="0" indent="-342900" marL="342900">
              <a:buAutoNum type="arabicPeriod"/>
            </a:pPr>
            <a:r>
              <a:rPr/>
              <a:t>Collaborare durante incident</a:t>
            </a:r>
          </a:p>
          <a:p>
            <a:pPr lvl="0" indent="0" marL="1270000">
              <a:buNone/>
            </a:pPr>
            <a:r>
              <a:rPr sz="2000"/>
              <a:t>SOC non sa programmare. Tu sì.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 — Flask logging strutturato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02_lab/M_EXTRA_logging_lab.py</a:t>
            </a:r>
          </a:p>
          <a:p>
            <a:pPr lvl="0" indent="0" marL="0">
              <a:buNone/>
            </a:pPr>
            <a:r>
              <a:rPr/>
              <a:t>Include: - JSON logging ECS-style - Middleware before/after request - Decorator @audit_action - Brute force detection inline - Alert su pattern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Checklist sviluppo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☐ Logging strutturato JSON</a:t>
            </a:r>
          </a:p>
          <a:p>
            <a:pPr lvl="0"/>
            <a:r>
              <a:rPr/>
              <a:t>☐ Stdout, no file diretti</a:t>
            </a:r>
          </a:p>
          <a:p>
            <a:pPr lvl="0"/>
            <a:r>
              <a:rPr/>
              <a:t>☐ Tutti gli eventi auth</a:t>
            </a:r>
          </a:p>
          <a:p>
            <a:pPr lvl="0"/>
            <a:r>
              <a:rPr/>
              <a:t>☐ 4xx con context</a:t>
            </a:r>
          </a:p>
          <a:p>
            <a:pPr lvl="0"/>
            <a:r>
              <a:rPr/>
              <a:t>☐ 5xx con stack trace </a:t>
            </a:r>
            <a:r>
              <a:rPr b="1"/>
              <a:t>interno</a:t>
            </a:r>
          </a:p>
          <a:p>
            <a:pPr lvl="0"/>
            <a:r>
              <a:rPr/>
              <a:t>☐ Audit log separato</a:t>
            </a:r>
          </a:p>
          <a:p>
            <a:pPr lvl="0"/>
            <a:r>
              <a:rPr/>
              <a:t>☐ Timestamp UTC ISO 8601</a:t>
            </a:r>
          </a:p>
          <a:p>
            <a:pPr lvl="0"/>
            <a:r>
              <a:rPr/>
              <a:t>☐ Correlation ID</a:t>
            </a:r>
          </a:p>
          <a:p>
            <a:pPr lvl="0"/>
            <a:r>
              <a:rPr/>
              <a:t>☐ No PII chiaro</a:t>
            </a:r>
          </a:p>
          <a:p>
            <a:pPr lvl="0"/>
            <a:r>
              <a:rPr/>
              <a:t>☐ No password/token interi</a:t>
            </a:r>
          </a:p>
          <a:p>
            <a:pPr lvl="0"/>
            <a:r>
              <a:rPr/>
              <a:t>☐ Hash chain audit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Checklist architettura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☐ Log shipper (Filebeat)</a:t>
            </a:r>
          </a:p>
          <a:p>
            <a:pPr lvl="0"/>
            <a:r>
              <a:rPr/>
              <a:t>☐ SIEM aggregato</a:t>
            </a:r>
          </a:p>
          <a:p>
            <a:pPr lvl="0"/>
            <a:r>
              <a:rPr/>
              <a:t>☐ Retention definita (GDPR)</a:t>
            </a:r>
          </a:p>
          <a:p>
            <a:pPr lvl="0"/>
            <a:r>
              <a:rPr/>
              <a:t>☐ Backup audit immutabile</a:t>
            </a:r>
          </a:p>
          <a:p>
            <a:pPr lvl="0"/>
            <a:r>
              <a:rPr/>
              <a:t>☐ Network: solo SIEM legge log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Checklist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☐ Detection rules per scenari critici</a:t>
            </a:r>
          </a:p>
          <a:p>
            <a:pPr lvl="0"/>
            <a:r>
              <a:rPr/>
              <a:t>☐ Severity tiers</a:t>
            </a:r>
          </a:p>
          <a:p>
            <a:pPr lvl="0"/>
            <a:r>
              <a:rPr/>
              <a:t>☐ Tuning mensile</a:t>
            </a:r>
          </a:p>
          <a:p>
            <a:pPr lvl="0"/>
            <a:r>
              <a:rPr/>
              <a:t>☐ Playbook per alert critical</a:t>
            </a:r>
          </a:p>
          <a:p>
            <a:pPr lvl="0"/>
            <a:r>
              <a:rPr/>
              <a:t>☐ Dashboard SOC operativo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Risorse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OWASP Logging Cheat Sheet</a:t>
            </a:r>
          </a:p>
          <a:p>
            <a:pPr lvl="0"/>
            <a:r>
              <a:rPr/>
              <a:t>Elastic Common Schema</a:t>
            </a:r>
          </a:p>
          <a:p>
            <a:pPr lvl="0"/>
            <a:r>
              <a:rPr/>
              <a:t>OpenTelemetry Logs</a:t>
            </a:r>
          </a:p>
          <a:p>
            <a:pPr lvl="0"/>
            <a:r>
              <a:rPr/>
              <a:t>MITRE ATT&amp;CK</a:t>
            </a:r>
          </a:p>
          <a:p>
            <a:pPr lvl="0"/>
            <a:r>
              <a:rPr/>
              <a:t>NIST SP 800-92</a:t>
            </a:r>
          </a:p>
          <a:p>
            <a:pPr lvl="0"/>
            <a:r>
              <a:rPr/>
              <a:t>IBM Cost of a Data Breach Report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Domande?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 — Logging &amp; Monitoring (OWASP A09)</dc:title>
  <dc:creator>Ing. Alessandro Manneschi</dc:creator>
  <cp:keywords/>
  <dcterms:created xsi:type="dcterms:W3CDTF">2026-05-06T21:55:05Z</dcterms:created>
  <dcterms:modified xsi:type="dcterms:W3CDTF">2026-05-06T21:55:05Z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ITS Prodigi · ITS Empoli · SS4I</vt:lpwstr>
  </property>
  <property fmtid="{D5CDD505-2E9C-101B-9397-08002B2CF9AE}" pid="3" name="subtitle">
    <vt:lpwstr>Corso ITS Cybersecurity — Modulo Avanzato</vt:lpwstr>
  </property>
</Properties>
</file>