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M7 — Lab Integrato + Chiusura Corso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M7 — Lab Integrato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ore — verifica trasversale applicata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Dove sei arrivato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30 ore hai imparato:</a:t>
            </a:r>
          </a:p>
          <a:p>
            <a:pPr lvl="0"/>
            <a:r>
              <a:rPr/>
              <a:t>M1: CIA, principi, casi reali</a:t>
            </a:r>
          </a:p>
          <a:p>
            <a:pPr lvl="0"/>
            <a:r>
              <a:rPr/>
              <a:t>M2: rete, ISO/OSI, Wireshark, Python</a:t>
            </a:r>
          </a:p>
          <a:p>
            <a:pPr lvl="0"/>
            <a:r>
              <a:rPr/>
              <a:t>M3: HTTP, header sicurezza, cookie</a:t>
            </a:r>
          </a:p>
          <a:p>
            <a:pPr lvl="0"/>
            <a:r>
              <a:rPr/>
              <a:t>M4: GDPR, NIS 2, CRA</a:t>
            </a:r>
          </a:p>
          <a:p>
            <a:pPr lvl="0"/>
            <a:r>
              <a:rPr/>
              <a:t>M5: STRIDE, Privacy by Design</a:t>
            </a:r>
          </a:p>
          <a:p>
            <a:pPr lvl="0"/>
            <a:r>
              <a:rPr/>
              <a:t>M6: 5 vuln + supply chain + path traversal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farai oggi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Sei un junior security analyst. BancaPiccola ti chiede una </a:t>
            </a:r>
            <a:r>
              <a:rPr sz="2000" b="1"/>
              <a:t>review</a:t>
            </a:r>
            <a:r>
              <a:rPr sz="2000"/>
              <a:t> prima del lancio. Trova vulnerabilità, dimostrale, proponi fix. 75 minuti, report finale.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Regole — permesso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Leggere il codice sorgente ✅ DevTools, curl, requests, sqlite3 ✅ Lavorare a coppie ✅ 1 hint gratis (il 2° costa -5%) ✅ Consultare le tue dispense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Regole — non permesso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Aprire BancaPiccola-secure 🚫 Cercare su Google “BancaPiccola vuln” 🚫 Soluzioni da ChatGPT 🚫 Copiare report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 richiesto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</a:t>
            </a:r>
            <a:r>
              <a:rPr>
                <a:latin typeface="Courier"/>
              </a:rPr>
              <a:t>cognome_M7_report.md</a:t>
            </a:r>
            <a:r>
              <a:rPr/>
              <a:t>: - Almeno </a:t>
            </a:r>
            <a:r>
              <a:rPr b="1"/>
              <a:t>3 vulnerabilità</a:t>
            </a:r>
            <a:r>
              <a:rPr/>
              <a:t> - Per ognuna: severity, PoC, fix - Categoria OWASP - Norma violata (GDPR)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Tempistica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Attività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0:00 - 0:15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Briefing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0:15 - 1:30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Lavoro (75 min)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1:30 - 1:50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Discussione collettiva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1:50 - 2:00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Chiusura corso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Cheat-sheet — dove cercare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 login, ricerca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URL con ID (</a:t>
                      </a:r>
                      <a:r>
                        <a:rPr>
                          <a:latin typeface="Courier"/>
                        </a:rPr>
                        <a:t>/fattura/42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Campi rivisualizzati (commenti)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Apri DB con DB Browser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 Traversal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?file=...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Cheat-sheet — payload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SQLi:    ' OR '1'='1     ' OR 1=1 --
XSS:     &lt;script&gt;alert(1)&lt;/script&gt;
Path:    ../etc/passwd   ../app.py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Bonus da cercare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Cookie senza HttpOnly/Secure/SameSite</a:t>
            </a:r>
          </a:p>
          <a:p>
            <a:pPr lvl="0"/>
            <a:r>
              <a:rPr/>
              <a:t>Header sicurezza mancanti</a:t>
            </a:r>
          </a:p>
          <a:p>
            <a:pPr lvl="0"/>
            <a:r>
              <a:rPr/>
              <a:t>Stack trace su errore</a:t>
            </a:r>
          </a:p>
          <a:p>
            <a:pPr lvl="0"/>
            <a:r>
              <a:rPr/>
              <a:t>CVE in </a:t>
            </a:r>
            <a:r>
              <a:rPr>
                <a:latin typeface="Courier"/>
              </a:rPr>
              <a:t>requirements.txt</a:t>
            </a:r>
          </a:p>
          <a:p>
            <a:pPr lvl="0"/>
            <a:r>
              <a:rPr/>
              <a:t>API espone campi sensibili (password_hash)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Severity rapida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 (9-10)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Compromissione totale, no auth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(7-8.9)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Dati altrui, privesc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(4-6.9)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 disclosure, attacco con interazione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(0.1-3.9)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 subottimale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Template del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### F-XX — Titolo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Severity: ...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CVSS stima: ...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Localizzazione: file:riga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OWASP: A01/A02/A03...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CWE: ...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GDPR: Art. ...</a:t>
            </a:r>
            <a:br/>
            <a:br/>
            <a:r>
              <a:rPr>
                <a:latin typeface="Courier"/>
              </a:rPr>
              <a:t>Descrizione: 2-3 paragrafi</a:t>
            </a:r>
            <a:br/>
            <a:r>
              <a:rPr>
                <a:latin typeface="Courier"/>
              </a:rPr>
              <a:t>PoC: comando o screenshot</a:t>
            </a:r>
            <a:br/>
            <a:r>
              <a:rPr>
                <a:latin typeface="Courier"/>
              </a:rPr>
              <a:t>Impatto: cosa succede</a:t>
            </a:r>
            <a:br/>
            <a:r>
              <a:rPr>
                <a:latin typeface="Courier"/>
              </a:rPr>
              <a:t>Fix: codice corretto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Griglia di valutazione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Peso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Numero vuln (≥3)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Correttezza PoC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Qualità fix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 giustificata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OWASP/GDPR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Soglia 60/100</a:t>
            </a:r>
            <a:r>
              <a:rPr sz="2000"/>
              <a:t>. Lab vale 20% del voto finale.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Indicatori di eccellenza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5+ vuln (incluse 1-2 bonus)</a:t>
            </a:r>
          </a:p>
          <a:p>
            <a:pPr lvl="0"/>
            <a:r>
              <a:rPr/>
              <a:t>Vector string CVSS plausibile</a:t>
            </a:r>
          </a:p>
          <a:p>
            <a:pPr lvl="0"/>
            <a:r>
              <a:rPr/>
              <a:t>Fix architetturali, non solo patch</a:t>
            </a:r>
          </a:p>
          <a:p>
            <a:pPr lvl="0"/>
            <a:r>
              <a:rPr/>
              <a:t>Sezione compliance check</a:t>
            </a:r>
          </a:p>
          <a:p>
            <a:pPr lvl="0"/>
            <a:r>
              <a:rPr/>
              <a:t>Executive summary chiaro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Indicatori di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“Stesse cose” come 3 vuln diverse</a:t>
            </a:r>
          </a:p>
          <a:p>
            <a:pPr lvl="0"/>
            <a:r>
              <a:rPr/>
              <a:t>Fix con </a:t>
            </a:r>
            <a:r>
              <a:rPr>
                <a:latin typeface="Courier"/>
              </a:rPr>
              <a:t>eval</a:t>
            </a:r>
            <a:r>
              <a:rPr/>
              <a:t>, </a:t>
            </a:r>
            <a:r>
              <a:rPr>
                <a:latin typeface="Courier"/>
              </a:rPr>
              <a:t>|safe</a:t>
            </a:r>
            <a:r>
              <a:rPr/>
              <a:t>, anti-pattern</a:t>
            </a:r>
          </a:p>
          <a:p>
            <a:pPr lvl="0"/>
            <a:r>
              <a:rPr/>
              <a:t>Severity Critical su un cookie</a:t>
            </a:r>
          </a:p>
          <a:p>
            <a:pPr lvl="0"/>
            <a:r>
              <a:rPr/>
              <a:t>Confonde MD5 e bcrypt</a:t>
            </a:r>
          </a:p>
          <a:p>
            <a:pPr lvl="0"/>
            <a:r>
              <a:rPr/>
              <a:t>Confonde 401/403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Discussione collettiva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Ognuno presenta in 2 min: - 1 vulnerabilità trovata - Severity con motivazione - Il fix proposto</a:t>
            </a:r>
          </a:p>
          <a:p>
            <a:pPr lvl="0" indent="0" marL="0">
              <a:buNone/>
            </a:pPr>
            <a:r>
              <a:rPr/>
              <a:t>Il docente: - Confronta con BancaPiccola-secure - Mostra pattern ricorrenti - Risponde alle domande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Chiusura corso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hai imparato (concretamente)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Riconoscere e classificare minacce ✅ Capire come funziona la rete ✅ Leggere richieste HTTP, header sicurezza ✅ Sapere quali norme regolano il tuo lavoro ✅ Applicare STRIDE e Privacy by Design ✅ Riconoscere e correggere 5 vulnerabilità web ✅ Usare Wireshark, DevTools, pip-audit ✅ Scrivere script Python di scanning/sniffing ✅ Fare mini security review con report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Sei al punto di partenza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Non</a:t>
            </a:r>
            <a:r>
              <a:rPr sz="2000"/>
              <a:t> sei un pentester </a:t>
            </a:r>
            <a:r>
              <a:rPr sz="2000" b="1"/>
              <a:t>Non</a:t>
            </a:r>
            <a:r>
              <a:rPr sz="2000"/>
              <a:t> sei un esperto di crypto </a:t>
            </a:r>
            <a:r>
              <a:rPr sz="2000" b="1"/>
              <a:t>Sei</a:t>
            </a:r>
            <a:r>
              <a:rPr sz="2000"/>
              <a:t> uno sviluppatore che vede la sicurezza</a:t>
            </a:r>
          </a:p>
          <a:p>
            <a:pPr lvl="0" indent="0" marL="0">
              <a:buNone/>
            </a:pPr>
            <a:r>
              <a:rPr/>
              <a:t>Le fondamenta sono solide.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3 takeaway tra 5 anni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Sicurezza si progetta</a:t>
            </a:r>
            <a:r>
              <a:rPr/>
              <a:t> dall’inizio (Security &amp; Privacy by Design)</a:t>
            </a:r>
          </a:p>
          <a:p>
            <a:pPr lvl="0" indent="-342900" marL="342900">
              <a:buAutoNum type="arabicPeriod"/>
            </a:pPr>
            <a:r>
              <a:rPr b="1"/>
              <a:t>Difese stratificate</a:t>
            </a:r>
            <a:r>
              <a:rPr/>
              <a:t> sempre (mai una sola)</a:t>
            </a:r>
          </a:p>
          <a:p>
            <a:pPr lvl="0" indent="-342900" marL="342900">
              <a:buAutoNum type="arabicPeriod"/>
            </a:pPr>
            <a:r>
              <a:rPr b="1"/>
              <a:t>Mentalità avversaria</a:t>
            </a:r>
            <a:r>
              <a:rPr/>
              <a:t> (cosa fa che non dovrebbe?)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 per crescere — gratuite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PortSwigger Web Security Academy</a:t>
            </a:r>
            <a:r>
              <a:rPr/>
              <a:t> (gold standard)</a:t>
            </a:r>
          </a:p>
          <a:p>
            <a:pPr lvl="0"/>
            <a:r>
              <a:rPr b="1"/>
              <a:t>TryHackMe</a:t>
            </a:r>
            <a:r>
              <a:rPr/>
              <a:t> (rooms beginner)</a:t>
            </a:r>
          </a:p>
          <a:p>
            <a:pPr lvl="0"/>
            <a:r>
              <a:rPr b="1"/>
              <a:t>HackTheBox starting point</a:t>
            </a:r>
          </a:p>
          <a:p>
            <a:pPr lvl="0"/>
            <a:r>
              <a:rPr b="1"/>
              <a:t>OverTheWire Bandit</a:t>
            </a:r>
            <a:r>
              <a:rPr/>
              <a:t> (linux + sec)</a:t>
            </a:r>
          </a:p>
          <a:p>
            <a:pPr lvl="0"/>
            <a:r>
              <a:rPr b="1"/>
              <a:t>OWASP</a:t>
            </a:r>
            <a:r>
              <a:rPr/>
              <a:t> (cheat sheets)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Certificazioni “entry”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CompTIA Security+</a:t>
            </a:r>
            <a:r>
              <a:rPr/>
              <a:t> (vendor-neutral)</a:t>
            </a:r>
          </a:p>
          <a:p>
            <a:pPr lvl="0"/>
            <a:r>
              <a:rPr b="1"/>
              <a:t>eJPT</a:t>
            </a:r>
            <a:r>
              <a:rPr/>
              <a:t> (eLearnSecurity, hands-on)</a:t>
            </a:r>
          </a:p>
          <a:p>
            <a:pPr lvl="0"/>
            <a:r>
              <a:rPr b="1"/>
              <a:t>PortSwigger BSCP</a:t>
            </a:r>
            <a:r>
              <a:rPr/>
              <a:t> (Burp/AppSec)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 studiare al II anno 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Penetration testing (Kali, Metasploit, Burp)</a:t>
            </a:r>
          </a:p>
          <a:p>
            <a:pPr lvl="0"/>
            <a:r>
              <a:rPr/>
              <a:t>Crittografia avanzata</a:t>
            </a:r>
          </a:p>
          <a:p>
            <a:pPr lvl="0"/>
            <a:r>
              <a:rPr/>
              <a:t>Cloud security (AWS/Azure/GCP)</a:t>
            </a:r>
          </a:p>
          <a:p>
            <a:pPr lvl="0"/>
            <a:r>
              <a:rPr/>
              <a:t>Container security (Docker, K8s)</a:t>
            </a:r>
          </a:p>
          <a:p>
            <a:pPr lvl="0"/>
            <a:r>
              <a:rPr/>
              <a:t>DevSecOps</a:t>
            </a:r>
          </a:p>
          <a:p>
            <a:pPr lvl="0"/>
            <a:r>
              <a:rPr/>
              <a:t>Forensics e IR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messaggio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“Sappiamo abbastanza per essere pericolosi”</a:t>
            </a:r>
          </a:p>
          <a:p>
            <a:pPr lvl="0" indent="0" marL="1270000">
              <a:buNone/>
            </a:pPr>
            <a:r>
              <a:rPr sz="2000"/>
              <a:t>Non maestri. Ma abbastanza per </a:t>
            </a:r>
            <a:r>
              <a:rPr sz="2000" b="1"/>
              <a:t>vedere</a:t>
            </a:r>
            <a:r>
              <a:rPr sz="2000"/>
              <a:t> quando qualcosa non va, e per </a:t>
            </a:r>
            <a:r>
              <a:rPr sz="2000" b="1"/>
              <a:t>chiedere le domande giuste</a:t>
            </a:r>
            <a:r>
              <a:rPr sz="2000"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azienda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Sarete junior. Probabilmente nessuno vi chiederà esplicitamente “fate sicurezza”.</a:t>
            </a:r>
          </a:p>
          <a:p>
            <a:pPr lvl="0" indent="0" marL="0">
              <a:buNone/>
            </a:pPr>
            <a:r>
              <a:rPr/>
              <a:t>Sarà il </a:t>
            </a:r>
            <a:r>
              <a:rPr b="1"/>
              <a:t>vostro lavoro</a:t>
            </a:r>
            <a:r>
              <a:rPr/>
              <a:t> dirla: - Vedete una query concatenata? Alzate la mano. - Vedete password in MD5? Alzate la mano. - Vedete endpoint senza authz? Alzate la mano.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Buona strada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Grazie per essere arrivati fino qui.</a:t>
            </a:r>
          </a:p>
          <a:p>
            <a:pPr lvl="0" indent="0" marL="0">
              <a:buNone/>
            </a:pPr>
            <a:r>
              <a:rPr b="1"/>
              <a:t>Domande?</a:t>
            </a:r>
          </a:p>
          <a:p>
            <a:pPr lvl="0" indent="0" marL="1270000">
              <a:buNone/>
            </a:pPr>
            <a:r>
              <a:rPr sz="2000"/>
              <a:t>Per dubbi, errori in queste dispense, suggerimenti: parliamone alla prossima lezione.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— Lab Integrato + Chiusura Corso</dc:title>
  <dc:creator>Ing. Alessandro Manneschi</dc:creator>
  <cp:keywords/>
  <dcterms:created xsi:type="dcterms:W3CDTF">2026-05-06T20:45:25Z</dcterms:created>
  <dcterms:modified xsi:type="dcterms:W3CDTF">2026-05-06T20:45:25Z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