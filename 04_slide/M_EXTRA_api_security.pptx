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9" Type="http://schemas.openxmlformats.org/officeDocument/2006/relationships/viewProps" Target="viewProps.xml" /><Relationship Id="rId3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1" Type="http://schemas.openxmlformats.org/officeDocument/2006/relationships/tableStyles" Target="tableStyles.xml" /><Relationship Id="rId4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EXTRA — API Security (OWASP API Top 10)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Corso ITS Cybersecurity — Modulo Avanzato</a:t>
            </a:r>
            <a:br/>
            <a:br/>
            <a:r>
              <a:rPr/>
              <a:t>Ing. Alessandro Manneschi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ITS Prodigi · ITS Empoli · SS4I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EXTRA — API Security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 ore — OWASP API Top 10 (2023)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Obiettivi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Differenze tra API e Webapp</a:t>
            </a:r>
          </a:p>
          <a:p>
            <a:pPr lvl="0"/>
            <a:r>
              <a:rPr/>
              <a:t>OWASP API Top 10</a:t>
            </a:r>
          </a:p>
          <a:p>
            <a:pPr lvl="0"/>
            <a:r>
              <a:rPr/>
              <a:t>BOLA (la #1)</a:t>
            </a:r>
          </a:p>
          <a:p>
            <a:pPr lvl="0"/>
            <a:r>
              <a:rPr/>
              <a:t>BOPLA (mass assignment + excessive data)</a:t>
            </a:r>
          </a:p>
          <a:p>
            <a:pPr lvl="0"/>
            <a:r>
              <a:rPr/>
              <a:t>SSRF (caso Capital One)</a:t>
            </a:r>
          </a:p>
          <a:p>
            <a:pPr lvl="0"/>
            <a:r>
              <a:rPr/>
              <a:t>Lab FastAPI con difese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Webapp vs API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Webapp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API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Output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HTML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JSON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Difese browser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CSP, SameSite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Quasi nessuna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Documentazione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Privata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Spesso pubblica (OpenAPI)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# Endpoint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10-50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Centinaia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Authn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Cookie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JWT, API key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Tre architetture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A) REST/GraphQL stand-alone
B) Backend di SPA/mobile
C) API pubblica per terzi (Stripe, Twilio)</a:t>
            </a:r>
          </a:p>
          <a:p>
            <a:pPr lvl="0" indent="0" marL="0">
              <a:buNone/>
            </a:pPr>
            <a:r>
              <a:rPr/>
              <a:t>Ognuna ha rischi specifici.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OWASP API Top 10 (2023)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Vulnerabilità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API1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BOLA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API2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Broken Authentication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API3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BOPLA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API4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Unrestricted Resource Consumption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API5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Broken Function Level Authorization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API6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Unrestricted Access to Sensitive Business Flows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API7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SSRF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API8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Security Misconfiguration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API9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Improper Inventory Management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API10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Unsafe Consumption of APIs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API1 — BOLA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Broken Object Level Authorization</a:t>
            </a:r>
          </a:p>
          <a:p>
            <a:pPr lvl="0" indent="0" marL="0">
              <a:buNone/>
            </a:pPr>
            <a:r>
              <a:rPr/>
              <a:t>L’IDOR delle API. </a:t>
            </a:r>
            <a:r>
              <a:rPr b="1"/>
              <a:t>La singola vulnerabilità più diffusa</a:t>
            </a:r>
            <a:r>
              <a:rPr/>
              <a:t>.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🚩</a:t>
            </a:r>
            <a:br/>
            <a:r>
              <a:rPr>
                <a:solidFill>
                  <a:srgbClr val="7D9029"/>
                </a:solidFill>
                <a:latin typeface="Courier"/>
              </a:rPr>
              <a:t>@app.get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"/api/users/{uid}/orders"</a:t>
            </a:r>
            <a:r>
              <a:rPr>
                <a:latin typeface="Courier"/>
              </a:rPr>
              <a:t>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list_orders(uid):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Order.query.filter_by(user_id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uid).</a:t>
            </a:r>
            <a:r>
              <a:rPr>
                <a:solidFill>
                  <a:srgbClr val="008000"/>
                </a:solidFill>
                <a:latin typeface="Courier"/>
              </a:rPr>
              <a:t>all</a:t>
            </a:r>
            <a:r>
              <a:rPr>
                <a:latin typeface="Courier"/>
              </a:rPr>
              <a:t>()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BOLA — Difesa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✅ Pattern preferito</a:t>
            </a:r>
            <a:br/>
            <a:r>
              <a:rPr>
                <a:solidFill>
                  <a:srgbClr val="7D9029"/>
                </a:solidFill>
                <a:latin typeface="Courier"/>
              </a:rPr>
              <a:t>@app.get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"/api/me/orders"</a:t>
            </a:r>
            <a:r>
              <a:rPr>
                <a:latin typeface="Courier"/>
              </a:rPr>
              <a:t>)</a:t>
            </a:r>
            <a:br/>
            <a:r>
              <a:rPr>
                <a:solidFill>
                  <a:srgbClr val="7D9029"/>
                </a:solidFill>
                <a:latin typeface="Courier"/>
              </a:rPr>
              <a:t>@require_jwt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my_orders():</a:t>
            </a:r>
            <a:br/>
            <a:r>
              <a:rPr>
                <a:latin typeface="Courier"/>
              </a:rPr>
              <a:t>    user_id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request.user[</a:t>
            </a:r>
            <a:r>
              <a:rPr>
                <a:solidFill>
                  <a:srgbClr val="4070A0"/>
                </a:solidFill>
                <a:latin typeface="Courier"/>
              </a:rPr>
              <a:t>"sub"</a:t>
            </a:r>
            <a:r>
              <a:rPr>
                <a:latin typeface="Courier"/>
              </a:rPr>
              <a:t>]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Order.query.filter_by(user_id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user_id).</a:t>
            </a:r>
            <a:r>
              <a:rPr>
                <a:solidFill>
                  <a:srgbClr val="008000"/>
                </a:solidFill>
                <a:latin typeface="Courier"/>
              </a:rPr>
              <a:t>all</a:t>
            </a:r>
            <a:r>
              <a:rPr>
                <a:latin typeface="Courier"/>
              </a:rPr>
              <a:t>()</a:t>
            </a:r>
          </a:p>
          <a:p>
            <a:pPr lvl="0" indent="0" marL="0">
              <a:buNone/>
            </a:pPr>
            <a:r>
              <a:rPr/>
              <a:t>Non usare l’ID dall’URL — usa quello dal token.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BOLA — Test automatico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test_bola():</a:t>
            </a:r>
            <a:br/>
            <a:r>
              <a:rPr>
                <a:latin typeface="Courier"/>
              </a:rPr>
              <a:t>    alice_token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login_as(</a:t>
            </a:r>
            <a:r>
              <a:rPr>
                <a:solidFill>
                  <a:srgbClr val="4070A0"/>
                </a:solidFill>
                <a:latin typeface="Courier"/>
              </a:rPr>
              <a:t>"alice"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bob_id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users[</a:t>
            </a:r>
            <a:r>
              <a:rPr>
                <a:solidFill>
                  <a:srgbClr val="4070A0"/>
                </a:solidFill>
                <a:latin typeface="Courier"/>
              </a:rPr>
              <a:t>"bob"</a:t>
            </a:r>
            <a:r>
              <a:rPr>
                <a:latin typeface="Courier"/>
              </a:rPr>
              <a:t>][</a:t>
            </a:r>
            <a:r>
              <a:rPr>
                <a:solidFill>
                  <a:srgbClr val="4070A0"/>
                </a:solidFill>
                <a:latin typeface="Courier"/>
              </a:rPr>
              <a:t>"id"</a:t>
            </a:r>
            <a:r>
              <a:rPr>
                <a:latin typeface="Courier"/>
              </a:rPr>
              <a:t>]</a:t>
            </a:r>
            <a:br/>
            <a:r>
              <a:rPr>
                <a:latin typeface="Courier"/>
              </a:rPr>
              <a:t>    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client.get(</a:t>
            </a:r>
            <a:r>
              <a:rPr>
                <a:solidFill>
                  <a:srgbClr val="BB6688"/>
                </a:solidFill>
                <a:latin typeface="Courier"/>
              </a:rPr>
              <a:t>f"/api/users/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bob_id</a:t>
            </a:r>
            <a:r>
              <a:rPr>
                <a:solidFill>
                  <a:srgbClr val="4070A0"/>
                </a:solidFill>
                <a:latin typeface="Courier"/>
              </a:rPr>
              <a:t>}</a:t>
            </a:r>
            <a:r>
              <a:rPr>
                <a:solidFill>
                  <a:srgbClr val="BB6688"/>
                </a:solidFill>
                <a:latin typeface="Courier"/>
              </a:rPr>
              <a:t>/orders"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               headers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{</a:t>
            </a:r>
            <a:r>
              <a:rPr>
                <a:solidFill>
                  <a:srgbClr val="4070A0"/>
                </a:solidFill>
                <a:latin typeface="Courier"/>
              </a:rPr>
              <a:t>"Authorization"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BB6688"/>
                </a:solidFill>
                <a:latin typeface="Courier"/>
              </a:rPr>
              <a:t>f"Bearer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alice_token</a:t>
            </a:r>
            <a:r>
              <a:rPr>
                <a:solidFill>
                  <a:srgbClr val="4070A0"/>
                </a:solidFill>
                <a:latin typeface="Courier"/>
              </a:rPr>
              <a:t>}</a:t>
            </a:r>
            <a:r>
              <a:rPr>
                <a:solidFill>
                  <a:srgbClr val="BB6688"/>
                </a:solidFill>
                <a:latin typeface="Courier"/>
              </a:rPr>
              <a:t>"</a:t>
            </a:r>
            <a:r>
              <a:rPr>
                <a:latin typeface="Courier"/>
              </a:rPr>
              <a:t>})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assert</a:t>
            </a:r>
            <a:r>
              <a:rPr>
                <a:latin typeface="Courier"/>
              </a:rPr>
              <a:t> r.status_code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403</a:t>
            </a:r>
          </a:p>
          <a:p>
            <a:pPr lvl="0" indent="0" marL="1270000">
              <a:buNone/>
            </a:pPr>
            <a:r>
              <a:rPr sz="2000"/>
              <a:t>Per ogni endpoint con ID nell’URL.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API2 — Broken Authentication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Login senza rate limit → brute force</a:t>
            </a:r>
          </a:p>
          <a:p>
            <a:pPr lvl="0"/>
            <a:r>
              <a:rPr/>
              <a:t>JWT senza scadenza</a:t>
            </a:r>
          </a:p>
          <a:p>
            <a:pPr lvl="0"/>
            <a:r>
              <a:rPr/>
              <a:t>Reset password con token prevedibile</a:t>
            </a:r>
          </a:p>
          <a:p>
            <a:pPr lvl="0"/>
            <a:r>
              <a:rPr/>
              <a:t>OTP a 4 cifre senza rate limit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API2 — Difese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Rate limit aggressivo (5/min su login)</a:t>
            </a:r>
          </a:p>
          <a:p>
            <a:pPr lvl="0"/>
            <a:r>
              <a:rPr/>
              <a:t>Account lockout dopo N falliti</a:t>
            </a:r>
          </a:p>
          <a:p>
            <a:pPr lvl="0"/>
            <a:r>
              <a:rPr/>
              <a:t>MFA (TOTP, WebAuthn)</a:t>
            </a:r>
          </a:p>
          <a:p>
            <a:pPr lvl="0"/>
            <a:r>
              <a:rPr/>
              <a:t>Password policy + HaveIBeenPwned check</a:t>
            </a:r>
          </a:p>
          <a:p>
            <a:pPr lvl="0"/>
            <a:r>
              <a:rPr/>
              <a:t>Reset token: random + scadenza 15 min + uso una volta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API3 — BOPLA Mass 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🚩</a:t>
            </a:r>
            <a:br/>
            <a:r>
              <a:rPr>
                <a:solidFill>
                  <a:srgbClr val="7D9029"/>
                </a:solidFill>
                <a:latin typeface="Courier"/>
              </a:rPr>
              <a:t>@app.put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"/api/users/{uid}"</a:t>
            </a:r>
            <a:r>
              <a:rPr>
                <a:latin typeface="Courier"/>
              </a:rPr>
              <a:t>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update(uid):</a:t>
            </a:r>
            <a:br/>
            <a:r>
              <a:rPr>
                <a:latin typeface="Courier"/>
              </a:rPr>
              <a:t>    data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request.json</a:t>
            </a:r>
            <a:br/>
            <a:r>
              <a:rPr>
                <a:latin typeface="Courier"/>
              </a:rPr>
              <a:t>    user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User.query.get(uid)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k, v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data.items():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008000"/>
                </a:solidFill>
                <a:latin typeface="Courier"/>
              </a:rPr>
              <a:t>setattr</a:t>
            </a:r>
            <a:r>
              <a:rPr>
                <a:latin typeface="Courier"/>
              </a:rPr>
              <a:t>(user, k, v)   </a:t>
            </a:r>
            <a:r>
              <a:rPr i="1">
                <a:solidFill>
                  <a:srgbClr val="60A0B0"/>
                </a:solidFill>
                <a:latin typeface="Courier"/>
              </a:rPr>
              <a:t># accetta QUALSIASI campo</a:t>
            </a:r>
          </a:p>
          <a:p>
            <a:pPr lvl="0" indent="0" marL="0">
              <a:buNone/>
            </a:pPr>
            <a:r>
              <a:rPr/>
              <a:t>Attacco: </a:t>
            </a:r>
            <a:r>
              <a:rPr>
                <a:latin typeface="Courier"/>
              </a:rPr>
              <a:t>{"role": "admin", "is_verified": true}</a:t>
            </a:r>
            <a:r>
              <a:rPr/>
              <a:t> → privilege escalation.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BOPLA — Difesa con Pydantic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UserUpdate(BaseModel):</a:t>
            </a:r>
            <a:br/>
            <a:r>
              <a:rPr>
                <a:latin typeface="Courier"/>
              </a:rPr>
              <a:t>    name: </a:t>
            </a:r>
            <a:r>
              <a:rPr>
                <a:solidFill>
                  <a:srgbClr val="008000"/>
                </a:solidFill>
                <a:latin typeface="Courier"/>
              </a:rPr>
              <a:t>str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br/>
            <a:r>
              <a:rPr>
                <a:latin typeface="Courier"/>
              </a:rPr>
              <a:t>    email: EmailStr 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NO: role, is_admin, balance</a:t>
            </a:r>
            <a:br/>
            <a:br/>
            <a:r>
              <a:rPr>
                <a:solidFill>
                  <a:srgbClr val="7D9029"/>
                </a:solidFill>
                <a:latin typeface="Courier"/>
              </a:rPr>
              <a:t>@app.put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"/api/users/{uid}"</a:t>
            </a:r>
            <a:r>
              <a:rPr>
                <a:latin typeface="Courier"/>
              </a:rPr>
              <a:t>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update(uid, payload: UserUpdate):</a:t>
            </a:r>
            <a:br/>
            <a:r>
              <a:rPr>
                <a:latin typeface="Courier"/>
              </a:rPr>
              <a:t>    user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User.query.get(uid)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k, v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payload.</a:t>
            </a:r>
            <a:r>
              <a:rPr>
                <a:solidFill>
                  <a:srgbClr val="008000"/>
                </a:solidFill>
                <a:latin typeface="Courier"/>
              </a:rPr>
              <a:t>dict</a:t>
            </a:r>
            <a:r>
              <a:rPr>
                <a:latin typeface="Courier"/>
              </a:rPr>
              <a:t>(exclude_unset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).items():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008000"/>
                </a:solidFill>
                <a:latin typeface="Courier"/>
              </a:rPr>
              <a:t>setattr</a:t>
            </a:r>
            <a:r>
              <a:rPr>
                <a:latin typeface="Courier"/>
              </a:rPr>
              <a:t>(user, k, v)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BOPLA — Excessive Data Exposure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🚩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jsonify(User.query.get(uid).__dict__)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Include password_hash, internal_id, ecc.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✅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UserPublic(BaseModel):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id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br/>
            <a:r>
              <a:rPr>
                <a:latin typeface="Courier"/>
              </a:rPr>
              <a:t>    name: </a:t>
            </a:r>
            <a:r>
              <a:rPr>
                <a:solidFill>
                  <a:srgbClr val="008000"/>
                </a:solidFill>
                <a:latin typeface="Courier"/>
              </a:rPr>
              <a:t>str</a:t>
            </a:r>
            <a:br/>
            <a:r>
              <a:rPr>
                <a:latin typeface="Courier"/>
              </a:rPr>
              <a:t>    email: EmailStr</a:t>
            </a:r>
            <a:br/>
            <a:br/>
            <a:r>
              <a:rPr>
                <a:solidFill>
                  <a:srgbClr val="7D9029"/>
                </a:solidFill>
                <a:latin typeface="Courier"/>
              </a:rPr>
              <a:t>@app.get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"/api/users/{uid}"</a:t>
            </a:r>
            <a:r>
              <a:rPr>
                <a:latin typeface="Courier"/>
              </a:rPr>
              <a:t>, response_model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UserPublic)</a:t>
            </a:r>
          </a:p>
          <a:p>
            <a:pPr lvl="0" indent="0" marL="0">
              <a:buNone/>
            </a:pPr>
            <a:r>
              <a:rPr/>
              <a:t>FastAPI filtra automaticamente. </a:t>
            </a:r>
            <a:r>
              <a:rPr b="1"/>
              <a:t>Difesa potente.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API4 — Resource Consumption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API senza rate limit</a:t>
            </a:r>
          </a:p>
          <a:p>
            <a:pPr lvl="0"/>
            <a:r>
              <a:rPr/>
              <a:t>Query enormi (</a:t>
            </a:r>
            <a:r>
              <a:rPr>
                <a:latin typeface="Courier"/>
              </a:rPr>
              <a:t>?limit=1000000</a:t>
            </a:r>
            <a:r>
              <a:rPr/>
              <a:t>)</a:t>
            </a:r>
          </a:p>
          <a:p>
            <a:pPr lvl="0"/>
            <a:r>
              <a:rPr/>
              <a:t>Upload file no max size</a:t>
            </a:r>
          </a:p>
          <a:p>
            <a:pPr lvl="0"/>
            <a:r>
              <a:rPr/>
              <a:t>JSON enormi (Trillion Laughs)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API4 — Difese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Rate limit</a:t>
            </a:r>
            <a:br/>
            <a:r>
              <a:rPr>
                <a:solidFill>
                  <a:srgbClr val="7D9029"/>
                </a:solidFill>
                <a:latin typeface="Courier"/>
              </a:rPr>
              <a:t>@limiter.limit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"5/minute"</a:t>
            </a:r>
            <a:r>
              <a:rPr>
                <a:latin typeface="Courier"/>
              </a:rPr>
              <a:t>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Pagination cap</a:t>
            </a:r>
            <a:br/>
            <a:r>
              <a:rPr>
                <a:latin typeface="Courier"/>
              </a:rPr>
              <a:t>limit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min</a:t>
            </a:r>
            <a:r>
              <a:rPr>
                <a:latin typeface="Courier"/>
              </a:rPr>
              <a:t>(limit, </a:t>
            </a:r>
            <a:r>
              <a:rPr>
                <a:solidFill>
                  <a:srgbClr val="40A070"/>
                </a:solidFill>
                <a:latin typeface="Courier"/>
              </a:rPr>
              <a:t>100</a:t>
            </a:r>
            <a:r>
              <a:rPr>
                <a:latin typeface="Courier"/>
              </a:rPr>
              <a:t>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Body size</a:t>
            </a:r>
            <a:br/>
            <a:r>
              <a:rPr>
                <a:latin typeface="Courier"/>
              </a:rPr>
              <a:t>app.config[</a:t>
            </a:r>
            <a:r>
              <a:rPr>
                <a:solidFill>
                  <a:srgbClr val="4070A0"/>
                </a:solidFill>
                <a:latin typeface="Courier"/>
              </a:rPr>
              <a:t>"MAX_CONTENT_LENGTH"</a:t>
            </a:r>
            <a:r>
              <a:rPr>
                <a:latin typeface="Courier"/>
              </a:rPr>
              <a:t>]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solidFill>
                  <a:srgbClr val="40A070"/>
                </a:solidFill>
                <a:latin typeface="Courier"/>
              </a:rPr>
              <a:t>1024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solidFill>
                  <a:srgbClr val="40A070"/>
                </a:solidFill>
                <a:latin typeface="Courier"/>
              </a:rPr>
              <a:t>1024</a:t>
            </a:r>
          </a:p>
          <a:p>
            <a:pPr lvl="0" indent="0" marL="0">
              <a:buNone/>
            </a:pPr>
            <a:r>
              <a:rPr/>
              <a:t>Per endpoint costosi: code async (Celery), quota giornaliera.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API5 — Function Level Authz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7D9029"/>
                </a:solidFill>
                <a:latin typeface="Courier"/>
              </a:rPr>
              <a:t>@app.get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"/api/admin/users"</a:t>
            </a:r>
            <a:r>
              <a:rPr>
                <a:latin typeface="Courier"/>
              </a:rPr>
              <a:t>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admin_list():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🚩 controlla solo "esiste token", non "ha role admin"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User.query.</a:t>
            </a:r>
            <a:r>
              <a:rPr>
                <a:solidFill>
                  <a:srgbClr val="008000"/>
                </a:solidFill>
                <a:latin typeface="Courier"/>
              </a:rPr>
              <a:t>all</a:t>
            </a:r>
            <a:r>
              <a:rPr>
                <a:latin typeface="Courier"/>
              </a:rPr>
              <a:t>()</a:t>
            </a:r>
          </a:p>
          <a:p>
            <a:pPr lvl="0" indent="0" marL="0">
              <a:buNone/>
            </a:pPr>
            <a:r>
              <a:rPr/>
              <a:t>Utente normale chiama → vede tutto.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API5 — Difesa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7D9029"/>
                </a:solidFill>
                <a:latin typeface="Courier"/>
              </a:rPr>
              <a:t>@app.get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"/api/admin/users"</a:t>
            </a:r>
            <a:r>
              <a:rPr>
                <a:latin typeface="Courier"/>
              </a:rPr>
              <a:t>)</a:t>
            </a:r>
            <a:br/>
            <a:r>
              <a:rPr>
                <a:solidFill>
                  <a:srgbClr val="7D9029"/>
                </a:solidFill>
                <a:latin typeface="Courier"/>
              </a:rPr>
              <a:t>@require_role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"admin"</a:t>
            </a:r>
            <a:r>
              <a:rPr>
                <a:latin typeface="Courier"/>
              </a:rPr>
              <a:t>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admin_list():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User.query.</a:t>
            </a:r>
            <a:r>
              <a:rPr>
                <a:solidFill>
                  <a:srgbClr val="008000"/>
                </a:solidFill>
                <a:latin typeface="Courier"/>
              </a:rPr>
              <a:t>all</a:t>
            </a:r>
            <a:r>
              <a:rPr>
                <a:latin typeface="Courier"/>
              </a:rPr>
              <a:t>()</a:t>
            </a:r>
          </a:p>
          <a:p>
            <a:pPr lvl="0" indent="0" marL="0">
              <a:buNone/>
            </a:pPr>
            <a:r>
              <a:rPr/>
              <a:t>Pattern: tutti gli endpoint admin sotto </a:t>
            </a:r>
            <a:r>
              <a:rPr>
                <a:latin typeface="Courier"/>
              </a:rPr>
              <a:t>/api/admin/...</a:t>
            </a:r>
            <a:r>
              <a:rPr/>
              <a:t> con decorator centrale.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API6 — Sensitive Business 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Endpoint legittimi sfruttati in modo non previsto:</a:t>
            </a:r>
          </a:p>
          <a:p>
            <a:pPr lvl="0"/>
            <a:r>
              <a:rPr/>
              <a:t>Bot che comprano PS5 al rilascio</a:t>
            </a:r>
          </a:p>
          <a:p>
            <a:pPr lvl="0"/>
            <a:r>
              <a:rPr/>
              <a:t>Scraping massivo catalogo</a:t>
            </a:r>
          </a:p>
          <a:p>
            <a:pPr lvl="0"/>
            <a:r>
              <a:rPr/>
              <a:t>Account creation farm</a:t>
            </a:r>
          </a:p>
          <a:p>
            <a:pPr lvl="0"/>
            <a:r>
              <a:rPr/>
              <a:t>Login stuffing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API6 — Difese (più comportamentali)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CAPTCHA su flussi critici</a:t>
            </a:r>
          </a:p>
          <a:p>
            <a:pPr lvl="0"/>
            <a:r>
              <a:rPr/>
              <a:t>Device fingerprinting</a:t>
            </a:r>
          </a:p>
          <a:p>
            <a:pPr lvl="0"/>
            <a:r>
              <a:rPr/>
              <a:t>Anomaly detection</a:t>
            </a:r>
          </a:p>
          <a:p>
            <a:pPr lvl="0"/>
            <a:r>
              <a:rPr/>
              <a:t>Email/SMS verification</a:t>
            </a:r>
          </a:p>
          <a:p>
            <a:pPr lvl="0"/>
            <a:r>
              <a:rPr/>
              <a:t>Bot management (Cloudflare, Akamai)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API7 — SSRF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API accetta URL e fetcha lato server. Attaccante fa fetchare URL </a:t>
            </a:r>
            <a:r>
              <a:rPr b="1"/>
              <a:t>interni</a:t>
            </a:r>
            <a:r>
              <a:rPr/>
              <a:t>.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🚩</a:t>
            </a:r>
            <a:br/>
            <a:r>
              <a:rPr>
                <a:solidFill>
                  <a:srgbClr val="7D9029"/>
                </a:solidFill>
                <a:latin typeface="Courier"/>
              </a:rPr>
              <a:t>@app.post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"/fetch-image"</a:t>
            </a:r>
            <a:r>
              <a:rPr>
                <a:latin typeface="Courier"/>
              </a:rPr>
              <a:t>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fetch():</a:t>
            </a:r>
            <a:br/>
            <a:r>
              <a:rPr>
                <a:latin typeface="Courier"/>
              </a:rPr>
              <a:t>    url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request.json[</a:t>
            </a:r>
            <a:r>
              <a:rPr>
                <a:solidFill>
                  <a:srgbClr val="4070A0"/>
                </a:solidFill>
                <a:latin typeface="Courier"/>
              </a:rPr>
              <a:t>"url"</a:t>
            </a:r>
            <a:r>
              <a:rPr>
                <a:latin typeface="Courier"/>
              </a:rPr>
              <a:t>]</a:t>
            </a:r>
            <a:br/>
            <a:r>
              <a:rPr>
                <a:latin typeface="Courier"/>
              </a:rPr>
              <a:t>    img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requests.get(url).content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SSRF — caso Capital One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100M record clienti rubati.</a:t>
            </a:r>
          </a:p>
          <a:p>
            <a:pPr lvl="0" indent="0" marL="0">
              <a:buNone/>
            </a:pPr>
            <a:r>
              <a:rPr/>
              <a:t>WAF con SSRF → metadata AWS:</a:t>
            </a:r>
          </a:p>
          <a:p>
            <a:pPr lvl="0" indent="0">
              <a:buNone/>
            </a:pPr>
            <a:r>
              <a:rPr>
                <a:latin typeface="Courier"/>
              </a:rPr>
              <a:t>http://169.254.169.254/latest/meta-data/iam/security-credentials/</a:t>
            </a:r>
          </a:p>
          <a:p>
            <a:pPr lvl="0" indent="0" marL="0">
              <a:buNone/>
            </a:pPr>
            <a:r>
              <a:rPr/>
              <a:t>→ ruolo IAM con accesso S3 → dump.</a:t>
            </a:r>
          </a:p>
          <a:p>
            <a:pPr lvl="0" indent="0" marL="0">
              <a:buNone/>
            </a:pPr>
            <a:r>
              <a:rPr/>
              <a:t>Multa $80M + class action.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SSRF — Difese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Whitelist domini</a:t>
            </a:r>
            <a:r>
              <a:rPr/>
              <a:t> ammessi</a:t>
            </a:r>
          </a:p>
          <a:p>
            <a:pPr lvl="0"/>
            <a:r>
              <a:rPr b="1"/>
              <a:t>Blocca IP privati</a:t>
            </a:r>
            <a:r>
              <a:rPr/>
              <a:t> (10.x, 172.16-31.x, 192.168.x, 169.254.x, 127.x)</a:t>
            </a:r>
          </a:p>
          <a:p>
            <a:pPr lvl="0"/>
            <a:r>
              <a:rPr b="1"/>
              <a:t>Blocca protocolli</a:t>
            </a:r>
            <a:r>
              <a:rPr/>
              <a:t> non-HTTP (file, gopher, ftp)</a:t>
            </a:r>
          </a:p>
          <a:p>
            <a:pPr lvl="0"/>
            <a:r>
              <a:rPr b="1"/>
              <a:t>No follow redirect</a:t>
            </a:r>
          </a:p>
          <a:p>
            <a:pPr lvl="0"/>
            <a:r>
              <a:rPr b="1"/>
              <a:t>Network segmentation</a:t>
            </a:r>
            <a:r>
              <a:rPr/>
              <a:t>: app non raggiunge metadata cloud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API8 — Misconfiguration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Debug mode in prod</a:t>
            </a:r>
          </a:p>
          <a:p>
            <a:pPr lvl="0"/>
            <a:r>
              <a:rPr/>
              <a:t>Stack trace nelle risposte</a:t>
            </a:r>
          </a:p>
          <a:p>
            <a:pPr lvl="0"/>
            <a:r>
              <a:rPr/>
              <a:t>CORS troppo permissivo</a:t>
            </a:r>
          </a:p>
          <a:p>
            <a:pPr lvl="0"/>
            <a:r>
              <a:rPr/>
              <a:t>Default credentials</a:t>
            </a:r>
          </a:p>
          <a:p>
            <a:pPr lvl="0"/>
            <a:r>
              <a:rPr>
                <a:latin typeface="Courier"/>
              </a:rPr>
              <a:t>Server: nginx/1.18.0</a:t>
            </a:r>
            <a:r>
              <a:rPr/>
              <a:t> (fingerprint)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API8 — CORS sottile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🚩</a:t>
            </a:r>
            <a:br/>
            <a:r>
              <a:rPr>
                <a:latin typeface="Courier"/>
              </a:rPr>
              <a:t>CORS(app, resources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{</a:t>
            </a:r>
            <a:r>
              <a:rPr>
                <a:solidFill>
                  <a:srgbClr val="4070A0"/>
                </a:solidFill>
                <a:latin typeface="Courier"/>
              </a:rPr>
              <a:t>r"/api/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latin typeface="Courier"/>
              </a:rPr>
              <a:t>: {</a:t>
            </a:r>
            <a:r>
              <a:rPr>
                <a:solidFill>
                  <a:srgbClr val="4070A0"/>
                </a:solidFill>
                <a:latin typeface="Courier"/>
              </a:rPr>
              <a:t>"origins"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4070A0"/>
                </a:solidFill>
                <a:latin typeface="Courier"/>
              </a:rPr>
              <a:t>"*"</a:t>
            </a:r>
            <a:r>
              <a:rPr>
                <a:latin typeface="Courier"/>
              </a:rPr>
              <a:t>}})</a:t>
            </a:r>
          </a:p>
          <a:p>
            <a:pPr lvl="0" indent="0" marL="0">
              <a:buNone/>
            </a:pPr>
            <a:r>
              <a:rPr/>
              <a:t>Con auth via cookie + </a:t>
            </a:r>
            <a:r>
              <a:rPr>
                <a:latin typeface="Courier"/>
              </a:rPr>
              <a:t>*</a:t>
            </a:r>
            <a:r>
              <a:rPr/>
              <a:t>: pericoloso.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✅</a:t>
            </a:r>
            <a:br/>
            <a:r>
              <a:rPr>
                <a:latin typeface="Courier"/>
              </a:rPr>
              <a:t>CORS(app,</a:t>
            </a:r>
            <a:br/>
            <a:r>
              <a:rPr>
                <a:latin typeface="Courier"/>
              </a:rPr>
              <a:t>     resources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{</a:t>
            </a:r>
            <a:r>
              <a:rPr>
                <a:solidFill>
                  <a:srgbClr val="4070A0"/>
                </a:solidFill>
                <a:latin typeface="Courier"/>
              </a:rPr>
              <a:t>r"/api/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latin typeface="Courier"/>
              </a:rPr>
              <a:t>: {</a:t>
            </a:r>
            <a:r>
              <a:rPr>
                <a:solidFill>
                  <a:srgbClr val="4070A0"/>
                </a:solidFill>
                <a:latin typeface="Courier"/>
              </a:rPr>
              <a:t>"origins"</a:t>
            </a:r>
            <a:r>
              <a:rPr>
                <a:latin typeface="Courier"/>
              </a:rPr>
              <a:t>: [</a:t>
            </a:r>
            <a:r>
              <a:rPr>
                <a:solidFill>
                  <a:srgbClr val="4070A0"/>
                </a:solidFill>
                <a:latin typeface="Courier"/>
              </a:rPr>
              <a:t>"https://app.example.com"</a:t>
            </a:r>
            <a:r>
              <a:rPr>
                <a:latin typeface="Courier"/>
              </a:rPr>
              <a:t>]}},</a:t>
            </a:r>
            <a:br/>
            <a:r>
              <a:rPr>
                <a:latin typeface="Courier"/>
              </a:rPr>
              <a:t>     supports_credentials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)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API9 — Inventory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API “fantasma” o “zombie”:</a:t>
            </a:r>
          </a:p>
          <a:p>
            <a:pPr lvl="0"/>
            <a:r>
              <a:rPr>
                <a:latin typeface="Courier"/>
              </a:rPr>
              <a:t>/api/v1/users</a:t>
            </a:r>
            <a:r>
              <a:rPr/>
              <a:t> (vecchia, vulnerabile)</a:t>
            </a:r>
          </a:p>
          <a:p>
            <a:pPr lvl="0"/>
            <a:r>
              <a:rPr>
                <a:latin typeface="Courier"/>
              </a:rPr>
              <a:t>/api/internal/admin</a:t>
            </a:r>
            <a:r>
              <a:rPr/>
              <a:t> (per debug, dimenticata)</a:t>
            </a:r>
          </a:p>
          <a:p>
            <a:pPr lvl="0"/>
            <a:r>
              <a:rPr/>
              <a:t>staging.example.com con dati prod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API9 — Caso Facebook 2021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API GraphQL non documentata permetteva enumerare numeri di telefono.</a:t>
            </a:r>
          </a:p>
          <a:p>
            <a:pPr lvl="0" indent="0" marL="0">
              <a:buNone/>
            </a:pPr>
            <a:r>
              <a:rPr b="1"/>
              <a:t>533M record leakati</a:t>
            </a:r>
            <a:r>
              <a:rPr/>
              <a:t>.</a:t>
            </a:r>
          </a:p>
          <a:p>
            <a:pPr lvl="0" indent="0" marL="1270000">
              <a:buNone/>
            </a:pPr>
            <a:r>
              <a:rPr sz="2000"/>
              <a:t>Inventory completo + API gateway centralizzato.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API10 — Unsafe Consumption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 chiama API terze (Stripe, Twilio) e si fida ciecamente.</a:t>
            </a:r>
          </a:p>
          <a:p>
            <a:pPr lvl="0" indent="0" marL="0">
              <a:buNone/>
            </a:pPr>
            <a:r>
              <a:rPr b="1"/>
              <a:t>Webhook senza firma</a:t>
            </a:r>
            <a:r>
              <a:rPr/>
              <a:t>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🚩</a:t>
            </a:r>
            <a:br/>
            <a:r>
              <a:rPr>
                <a:solidFill>
                  <a:srgbClr val="7D9029"/>
                </a:solidFill>
                <a:latin typeface="Courier"/>
              </a:rPr>
              <a:t>@app.post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"/webhook/stripe"</a:t>
            </a:r>
            <a:r>
              <a:rPr>
                <a:latin typeface="Courier"/>
              </a:rPr>
              <a:t>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stripe():</a:t>
            </a:r>
            <a:br/>
            <a:r>
              <a:rPr>
                <a:latin typeface="Courier"/>
              </a:rPr>
              <a:t>    event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request.json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event[</a:t>
            </a:r>
            <a:r>
              <a:rPr>
                <a:solidFill>
                  <a:srgbClr val="4070A0"/>
                </a:solidFill>
                <a:latin typeface="Courier"/>
              </a:rPr>
              <a:t>"type"</a:t>
            </a:r>
            <a:r>
              <a:rPr>
                <a:latin typeface="Courier"/>
              </a:rPr>
              <a:t>]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"payment_intent.succeeded"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mark_paid(event[</a:t>
            </a:r>
            <a:r>
              <a:rPr>
                <a:solidFill>
                  <a:srgbClr val="4070A0"/>
                </a:solidFill>
                <a:latin typeface="Courier"/>
              </a:rPr>
              <a:t>"data"</a:t>
            </a:r>
            <a:r>
              <a:rPr>
                <a:latin typeface="Courier"/>
              </a:rPr>
              <a:t>][</a:t>
            </a:r>
            <a:r>
              <a:rPr>
                <a:solidFill>
                  <a:srgbClr val="4070A0"/>
                </a:solidFill>
                <a:latin typeface="Courier"/>
              </a:rPr>
              <a:t>"object"</a:t>
            </a:r>
            <a:r>
              <a:rPr>
                <a:latin typeface="Courier"/>
              </a:rPr>
              <a:t>][</a:t>
            </a:r>
            <a:r>
              <a:rPr>
                <a:solidFill>
                  <a:srgbClr val="4070A0"/>
                </a:solidFill>
                <a:latin typeface="Courier"/>
              </a:rPr>
              <a:t>"id"</a:t>
            </a:r>
            <a:r>
              <a:rPr>
                <a:latin typeface="Courier"/>
              </a:rPr>
              <a:t>])</a:t>
            </a:r>
          </a:p>
          <a:p>
            <a:pPr lvl="0" indent="0" marL="0">
              <a:buNone/>
            </a:pPr>
            <a:r>
              <a:rPr/>
              <a:t>Attaccante chiama webhook → ordine pagato senza pagare.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API10 — Difesa firma webhook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7D9029"/>
                </a:solidFill>
                <a:latin typeface="Courier"/>
              </a:rPr>
              <a:t>@app.post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"/webhook/stripe"</a:t>
            </a:r>
            <a:r>
              <a:rPr>
                <a:latin typeface="Courier"/>
              </a:rPr>
              <a:t>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stripe():</a:t>
            </a:r>
            <a:br/>
            <a:r>
              <a:rPr>
                <a:latin typeface="Courier"/>
              </a:rPr>
              <a:t>    payload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request.get_data(as_text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sig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request.headers.get(</a:t>
            </a:r>
            <a:r>
              <a:rPr>
                <a:solidFill>
                  <a:srgbClr val="4070A0"/>
                </a:solidFill>
                <a:latin typeface="Courier"/>
              </a:rPr>
              <a:t>"Stripe-Signature"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try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event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stripe.Webhook.construct_event(payload, sig, endpoint_secret)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except</a:t>
            </a:r>
            <a:r>
              <a:rPr>
                <a:latin typeface="Courier"/>
              </a:rPr>
              <a:t> SignatureVerificationError:</a:t>
            </a:r>
            <a:br/>
            <a:r>
              <a:rPr>
                <a:latin typeface="Courier"/>
              </a:rPr>
              <a:t>        abort(</a:t>
            </a:r>
            <a:r>
              <a:rPr>
                <a:solidFill>
                  <a:srgbClr val="40A070"/>
                </a:solidFill>
                <a:latin typeface="Courier"/>
              </a:rPr>
              <a:t>400</a:t>
            </a:r>
            <a:r>
              <a:rPr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Stripe firma con HMAC. Solo chi conosce il secret può forgiare evento.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Lab — FastAPI con difese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Vedi </a:t>
            </a:r>
            <a:r>
              <a:rPr>
                <a:latin typeface="Courier"/>
              </a:rPr>
              <a:t>02_lab/M_EXTRA_api_security_lab.py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Include: - Login con rate limit - BOLA prevenuto (filtri per token) - BOPLA prevenuto (Pydantic input/output) - Function-level authz (admin) - Test red team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Test red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BOLA — alice prova ordine di bob → 403</a:t>
            </a:r>
            <a:br/>
            <a:r>
              <a:rPr>
                <a:latin typeface="Courier"/>
              </a:rPr>
              <a:t>curl /orders/101 </a:t>
            </a:r>
            <a:r>
              <a:rPr>
                <a:solidFill>
                  <a:srgbClr val="7D9029"/>
                </a:solidFill>
                <a:latin typeface="Courier"/>
              </a:rPr>
              <a:t>-H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"Authorization: Bearer </a:t>
            </a:r>
            <a:r>
              <a:rPr>
                <a:solidFill>
                  <a:srgbClr val="19177C"/>
                </a:solidFill>
                <a:latin typeface="Courier"/>
              </a:rPr>
              <a:t>$ALICE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BOPLA — campo extra ignorato</a:t>
            </a:r>
            <a:br/>
            <a:r>
              <a:rPr>
                <a:latin typeface="Courier"/>
              </a:rPr>
              <a:t>curl </a:t>
            </a:r>
            <a:r>
              <a:rPr>
                <a:solidFill>
                  <a:srgbClr val="7D9029"/>
                </a:solidFill>
                <a:latin typeface="Courier"/>
              </a:rPr>
              <a:t>-X</a:t>
            </a:r>
            <a:r>
              <a:rPr>
                <a:latin typeface="Courier"/>
              </a:rPr>
              <a:t> PUT /orders/100 </a:t>
            </a:r>
            <a:r>
              <a:rPr>
                <a:solidFill>
                  <a:srgbClr val="7D9029"/>
                </a:solidFill>
                <a:latin typeface="Courier"/>
              </a:rPr>
              <a:t>-d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'{"amount":100,"score":999}'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score IGNORATO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Function — alice chiama /admin → 403</a:t>
            </a:r>
            <a:br/>
            <a:r>
              <a:rPr>
                <a:latin typeface="Courier"/>
              </a:rPr>
              <a:t>curl /admin/orders </a:t>
            </a:r>
            <a:r>
              <a:rPr>
                <a:solidFill>
                  <a:srgbClr val="7D9029"/>
                </a:solidFill>
                <a:latin typeface="Courier"/>
              </a:rPr>
              <a:t>-H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"Authorization: Bearer </a:t>
            </a:r>
            <a:r>
              <a:rPr>
                <a:solidFill>
                  <a:srgbClr val="19177C"/>
                </a:solidFill>
                <a:latin typeface="Courier"/>
              </a:rPr>
              <a:t>$ALICE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Checklist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Per ogni endpoint: - [ ] Auth richiesta - [ ] Authz su oggetto (BOLA) - [ ] Authz su funzione (admin) - [ ] Response model whitelist - [ ] Request model whitelist - [ ] Rate limit - [ ] Pagination - [ ] Pydantic validation - [ ] Error handler senza stack trace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Architettura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☐ OpenAPI completa</a:t>
            </a:r>
          </a:p>
          <a:p>
            <a:pPr lvl="0"/>
            <a:r>
              <a:rPr/>
              <a:t>☐ API Gateway davanti</a:t>
            </a:r>
          </a:p>
          <a:p>
            <a:pPr lvl="0"/>
            <a:r>
              <a:rPr/>
              <a:t>☐ Versioning + deprecation</a:t>
            </a:r>
          </a:p>
          <a:p>
            <a:pPr lvl="0"/>
            <a:r>
              <a:rPr/>
              <a:t>☐ Network segmentation (no metadata cloud)</a:t>
            </a:r>
          </a:p>
          <a:p>
            <a:pPr lvl="0"/>
            <a:r>
              <a:rPr/>
              <a:t>☐ CORS whitelist precisa</a:t>
            </a:r>
          </a:p>
          <a:p>
            <a:pPr lvl="0"/>
            <a:r>
              <a:rPr/>
              <a:t>☐ HTTPS forzato + HSTS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Risorse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OWASP API Top 10 2023</a:t>
            </a:r>
          </a:p>
          <a:p>
            <a:pPr lvl="0"/>
            <a:r>
              <a:rPr/>
              <a:t>PortSwigger Academy — API Testing</a:t>
            </a:r>
          </a:p>
          <a:p>
            <a:pPr lvl="0"/>
            <a:r>
              <a:rPr/>
              <a:t>42Crunch Whitepapers</a:t>
            </a:r>
          </a:p>
          <a:p>
            <a:pPr lvl="0"/>
            <a:r>
              <a:rPr/>
              <a:t>FastAPI Security docs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Domande?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EXTRA — API Security (OWASP API Top 10)</dc:title>
  <dc:creator>Ing. Alessandro Manneschi</dc:creator>
  <cp:keywords/>
  <dcterms:created xsi:type="dcterms:W3CDTF">2026-05-06T21:55:04Z</dcterms:created>
  <dcterms:modified xsi:type="dcterms:W3CDTF">2026-05-06T21:55:04Z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ITS Prodigi · ITS Empoli · SS4I</vt:lpwstr>
  </property>
  <property fmtid="{D5CDD505-2E9C-101B-9397-08002B2CF9AE}" pid="3" name="subtitle">
    <vt:lpwstr>Corso ITS Cybersecurity — Modulo Avanzato</vt:lpwstr>
  </property>
</Properties>
</file>