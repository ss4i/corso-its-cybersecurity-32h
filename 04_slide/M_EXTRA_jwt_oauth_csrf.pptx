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4" Type="http://schemas.openxmlformats.org/officeDocument/2006/relationships/viewProps" Target="viewProps.xml" /><Relationship Id="rId4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6" Type="http://schemas.openxmlformats.org/officeDocument/2006/relationships/tableStyles" Target="tableStyles.xml" /><Relationship Id="rId4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EXTRA — JWT, OAuth 2.0, SSO, CSRF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Corso ITS Cybersecurity — Modulo Avanzato</a:t>
            </a:r>
            <a:br/>
            <a:br/>
            <a:r>
              <a:rPr/>
              <a:t>Ing. Alessandro Manneschi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ITS Prodigi · ITS Empoli · SS4I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EXTRA — JWT, OAuth 2.0, CSRF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3-4 ore — Autenticazione moderna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Obiettivi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Cookie session vs JWT vs OAuth — quando usare cosa</a:t>
            </a:r>
          </a:p>
          <a:p>
            <a:pPr lvl="0"/>
            <a:r>
              <a:rPr/>
              <a:t>JWT struttura, vulnerabilità, difese</a:t>
            </a:r>
          </a:p>
          <a:p>
            <a:pPr lvl="0"/>
            <a:r>
              <a:rPr/>
              <a:t>OAuth 2.0 + PKCE</a:t>
            </a:r>
          </a:p>
          <a:p>
            <a:pPr lvl="0"/>
            <a:r>
              <a:rPr/>
              <a:t>OpenID Connect, SSO</a:t>
            </a:r>
          </a:p>
          <a:p>
            <a:pPr lvl="0"/>
            <a:r>
              <a:rPr/>
              <a:t>Refresh token rotation</a:t>
            </a:r>
          </a:p>
          <a:p>
            <a:pPr lvl="0"/>
            <a:r>
              <a:rPr/>
              <a:t>CSRF approfondito (3 difese in profondità)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Cookie session vs JWT vs OAuth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Cookie session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Server (DB)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Webapp tradizionale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JWT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Client (firmato)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API, SPA, microservizi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OAuth 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 server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Login con Google/GitHub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OIDC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 server + 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OAuth + identità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SAML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Browser-mediated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SSO enterprise legacy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JWT — struttura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HEADER.PAYLOAD.SIGNATURE
   ↓        ↓        ↓
 alg     claims    HMAC/RSA</a:t>
            </a:r>
          </a:p>
          <a:p>
            <a:pPr lvl="0" indent="0" marL="0">
              <a:buNone/>
            </a:pPr>
            <a:r>
              <a:rPr/>
              <a:t>Tutto </a:t>
            </a:r>
            <a:r>
              <a:rPr b="1"/>
              <a:t>Base64URL-encoded</a:t>
            </a:r>
            <a:r>
              <a:rPr/>
              <a:t>. Il payload </a:t>
            </a:r>
            <a:r>
              <a:rPr b="1"/>
              <a:t>non è cifrato</a:t>
            </a:r>
            <a:r>
              <a:rPr/>
              <a:t>, è leggibile. Solo </a:t>
            </a:r>
            <a:r>
              <a:rPr b="1"/>
              <a:t>firmato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JWT —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"alg"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"HS256"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"typ"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"JWT"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/>
            <a:r>
              <a:rPr>
                <a:latin typeface="Courier"/>
              </a:rPr>
              <a:t>alg</a:t>
            </a:r>
            <a:r>
              <a:rPr/>
              <a:t>: HS256 (simmetrico) o RS256 (asimmetrico)</a:t>
            </a:r>
          </a:p>
          <a:p>
            <a:pPr lvl="0"/>
            <a:r>
              <a:rPr/>
              <a:t>⚠️ </a:t>
            </a:r>
            <a:r>
              <a:rPr b="1"/>
              <a:t>mai accettare </a:t>
            </a:r>
            <a:r>
              <a:rPr b="1">
                <a:latin typeface="Courier"/>
              </a:rPr>
              <a:t>alg: none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JWT — Payload (claims)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"sub"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"user_12345"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"iat"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1719356400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"exp"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1719360000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"aud"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"myapi"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"iss"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"myauth"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"roles"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"user"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exp</a:t>
            </a:r>
            <a:r>
              <a:rPr/>
              <a:t>, </a:t>
            </a:r>
            <a:r>
              <a:rPr>
                <a:latin typeface="Courier"/>
              </a:rPr>
              <a:t>aud</a:t>
            </a:r>
            <a:r>
              <a:rPr/>
              <a:t>, </a:t>
            </a:r>
            <a:r>
              <a:rPr>
                <a:latin typeface="Courier"/>
              </a:rPr>
              <a:t>iss</a:t>
            </a:r>
            <a:r>
              <a:rPr/>
              <a:t> </a:t>
            </a:r>
            <a:r>
              <a:rPr b="1"/>
              <a:t>sempre</a:t>
            </a:r>
            <a:r>
              <a:rPr/>
              <a:t> validati lato server.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JWT — Signature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HMACSHA256(
  base64(header) + "." + base64(payload),
  SECRET
)</a:t>
            </a:r>
          </a:p>
          <a:p>
            <a:pPr lvl="0" indent="0" marL="1270000">
              <a:buNone/>
            </a:pPr>
            <a:r>
              <a:rPr sz="2000"/>
              <a:t>Modifica payload → firma cambia → server rigetta.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JWT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jwt</a:t>
            </a:r>
            <a:br/>
            <a:r>
              <a:rPr>
                <a:latin typeface="Courier"/>
              </a:rPr>
              <a:t>SECRET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"uno-secret-lungo-CSPRNG"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Generare</a:t>
            </a:r>
            <a:br/>
            <a:r>
              <a:rPr>
                <a:latin typeface="Courier"/>
              </a:rPr>
              <a:t>token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jwt.encode({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"sub"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"user_id"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"exp"</a:t>
            </a:r>
            <a:r>
              <a:rPr>
                <a:latin typeface="Courier"/>
              </a:rPr>
              <a:t>: time.time()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900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"iss"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"myapi"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"aud"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"myclients"</a:t>
            </a:r>
            <a:br/>
            <a:r>
              <a:rPr>
                <a:latin typeface="Courier"/>
              </a:rPr>
              <a:t>}, SECRET, algorithm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"HS256"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Verificare (whitelist algoritmo!)</a:t>
            </a:r>
            <a:br/>
            <a:r>
              <a:rPr>
                <a:latin typeface="Courier"/>
              </a:rPr>
              <a:t>payload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jwt.decode(token, SECRET,</a:t>
            </a:r>
            <a:br/>
            <a:r>
              <a:rPr>
                <a:latin typeface="Courier"/>
              </a:rPr>
              <a:t>                     algorithms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"HS256"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                 audience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"myclients"</a:t>
            </a:r>
            <a:r>
              <a:rPr>
                <a:latin typeface="Courier"/>
              </a:rPr>
              <a:t>, issuer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"myapi"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Vulnerabilità JWT — alg: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🚩 VULNERABILE</a:t>
            </a:r>
            <a:br/>
            <a:r>
              <a:rPr>
                <a:latin typeface="Courier"/>
              </a:rPr>
              <a:t>jwt.decode(token, SECRET)   </a:t>
            </a:r>
            <a:r>
              <a:rPr i="1">
                <a:solidFill>
                  <a:srgbClr val="60A0B0"/>
                </a:solidFill>
                <a:latin typeface="Courier"/>
              </a:rPr>
              <a:t># accetta qualsiasi alg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✅ SICURO</a:t>
            </a:r>
            <a:br/>
            <a:r>
              <a:rPr>
                <a:latin typeface="Courier"/>
              </a:rPr>
              <a:t>jwt.decode(token, SECRET, algorithms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"HS256"</a:t>
            </a:r>
            <a:r>
              <a:rPr>
                <a:latin typeface="Courier"/>
              </a:rPr>
              <a:t>])</a:t>
            </a:r>
          </a:p>
          <a:p>
            <a:pPr lvl="0" indent="0" marL="0">
              <a:buNone/>
            </a:pPr>
            <a:r>
              <a:rPr/>
              <a:t>L’attaccante manda </a:t>
            </a:r>
            <a:r>
              <a:rPr>
                <a:latin typeface="Courier"/>
              </a:rPr>
              <a:t>alg: none</a:t>
            </a:r>
            <a:r>
              <a:rPr/>
              <a:t> con firma vuota → token “valido”.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Vulnerabilità — Algorithm confusion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 verifica con RS256 (chiave pubblica). Attaccante: 1. Cambia </a:t>
            </a:r>
            <a:r>
              <a:rPr>
                <a:latin typeface="Courier"/>
              </a:rPr>
              <a:t>alg</a:t>
            </a:r>
            <a:r>
              <a:rPr/>
              <a:t> in HS256 2. Firma con la chiave </a:t>
            </a:r>
            <a:r>
              <a:rPr b="1"/>
              <a:t>pubblica</a:t>
            </a:r>
            <a:r>
              <a:rPr/>
              <a:t> (è pubblica) 3. Server verifica con stessa chiave → valido</a:t>
            </a:r>
          </a:p>
          <a:p>
            <a:pPr lvl="0" indent="0" marL="1270000">
              <a:buNone/>
            </a:pPr>
            <a:r>
              <a:rPr sz="2000"/>
              <a:t>Difesa: forzare algoritmo, mai dal header.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Vulnerabilità — secret debole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SECRET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"secret"</a:t>
            </a:r>
            <a:r>
              <a:rPr>
                <a:latin typeface="Courier"/>
              </a:rPr>
              <a:t>     </a:t>
            </a:r>
            <a:r>
              <a:rPr i="1">
                <a:solidFill>
                  <a:srgbClr val="60A0B0"/>
                </a:solidFill>
                <a:latin typeface="Courier"/>
              </a:rPr>
              <a:t># 🔥</a:t>
            </a:r>
            <a:br/>
            <a:r>
              <a:rPr>
                <a:latin typeface="Courier"/>
              </a:rPr>
              <a:t>SECRET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"12345"</a:t>
            </a:r>
            <a:r>
              <a:rPr>
                <a:latin typeface="Courier"/>
              </a:rPr>
              <a:t>      </a:t>
            </a:r>
            <a:r>
              <a:rPr i="1">
                <a:solidFill>
                  <a:srgbClr val="60A0B0"/>
                </a:solidFill>
                <a:latin typeface="Courier"/>
              </a:rPr>
              <a:t># 🔥</a:t>
            </a:r>
            <a:br/>
            <a:r>
              <a:rPr>
                <a:latin typeface="Courier"/>
              </a:rPr>
              <a:t>SECRET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"password"</a:t>
            </a:r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# 🔥</a:t>
            </a:r>
          </a:p>
          <a:p>
            <a:pPr lvl="0" indent="0" marL="0">
              <a:buNone/>
            </a:pPr>
            <a:r>
              <a:rPr/>
              <a:t>Hashcat brute-force HS256 → secret in minuti.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✅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secrets</a:t>
            </a:r>
            <a:br/>
            <a:r>
              <a:rPr>
                <a:latin typeface="Courier"/>
              </a:rPr>
              <a:t>SECRET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secrets.token_urlsafe(</a:t>
            </a:r>
            <a:r>
              <a:rPr>
                <a:solidFill>
                  <a:srgbClr val="40A070"/>
                </a:solidFill>
                <a:latin typeface="Courier"/>
              </a:rPr>
              <a:t>64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Vulnerabilità — no expiration / no aud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Token “vita eterna” → compromesso = accesso illimitato</a:t>
            </a:r>
          </a:p>
          <a:p>
            <a:pPr lvl="0"/>
            <a:r>
              <a:rPr/>
              <a:t>Token rilasciato per </a:t>
            </a:r>
            <a:r>
              <a:rPr>
                <a:latin typeface="Courier"/>
              </a:rPr>
              <a:t>api.X</a:t>
            </a:r>
            <a:r>
              <a:rPr/>
              <a:t> accettato da </a:t>
            </a:r>
            <a:r>
              <a:rPr>
                <a:latin typeface="Courier"/>
              </a:rPr>
              <a:t>api.Y</a:t>
            </a:r>
          </a:p>
          <a:p>
            <a:pPr lvl="0" indent="0" marL="1270000">
              <a:buNone/>
            </a:pPr>
            <a:r>
              <a:rPr sz="2000"/>
              <a:t>Sempre </a:t>
            </a:r>
            <a:r>
              <a:rPr sz="2000">
                <a:latin typeface="Courier"/>
              </a:rPr>
              <a:t>exp &lt; 1h</a:t>
            </a:r>
            <a:r>
              <a:rPr sz="2000"/>
              <a:t> + </a:t>
            </a:r>
            <a:r>
              <a:rPr sz="2000">
                <a:latin typeface="Courier"/>
              </a:rPr>
              <a:t>aud</a:t>
            </a:r>
            <a:r>
              <a:rPr sz="2000"/>
              <a:t> + </a:t>
            </a:r>
            <a:r>
              <a:rPr sz="2000">
                <a:latin typeface="Courier"/>
              </a:rPr>
              <a:t>iss</a:t>
            </a:r>
            <a:r>
              <a:rPr sz="2000"/>
              <a:t> validati.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Vulnerabilità — JWT in localStorage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🚩 SPA classica</a:t>
            </a:r>
            <a:br/>
            <a:r>
              <a:rPr>
                <a:latin typeface="Courier"/>
              </a:rPr>
              <a:t>localStorage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setItem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"token"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jwt)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fetch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"/api"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{</a:t>
            </a:r>
            <a:r>
              <a:rPr>
                <a:solidFill>
                  <a:srgbClr val="902000"/>
                </a:solidFill>
                <a:latin typeface="Courier"/>
              </a:rPr>
              <a:t>headers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{</a:t>
            </a:r>
            <a:r>
              <a:rPr>
                <a:solidFill>
                  <a:srgbClr val="902000"/>
                </a:solidFill>
                <a:latin typeface="Courier"/>
              </a:rPr>
              <a:t>Authorization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`Bearer ${</a:t>
            </a:r>
            <a:r>
              <a:rPr>
                <a:latin typeface="Courier"/>
              </a:rPr>
              <a:t>jwt</a:t>
            </a:r>
            <a:r>
              <a:rPr>
                <a:solidFill>
                  <a:srgbClr val="4070A0"/>
                </a:solidFill>
                <a:latin typeface="Courier"/>
              </a:rPr>
              <a:t>}`</a:t>
            </a:r>
            <a:r>
              <a:rPr>
                <a:latin typeface="Courier"/>
              </a:rPr>
              <a:t>}})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/>
              <a:t>XSS = furto token.</a:t>
            </a:r>
          </a:p>
          <a:p>
            <a:pPr lvl="0" indent="0" marL="1270000">
              <a:buNone/>
            </a:pPr>
            <a:r>
              <a:rPr sz="2000"/>
              <a:t>✅ JWT in cookie HttpOnly + Secure + SameSite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OAuth 2.0 — il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“Voglio dare a Calendar.app accesso al mio Google Calendar </a:t>
            </a:r>
            <a:r>
              <a:rPr sz="2000" b="1"/>
              <a:t>senza dargli la mia password Google</a:t>
            </a:r>
            <a:r>
              <a:rPr sz="2000"/>
              <a:t>”</a:t>
            </a:r>
          </a:p>
          <a:p>
            <a:pPr lvl="0" indent="0" marL="0">
              <a:buNone/>
            </a:pPr>
            <a:r>
              <a:rPr/>
              <a:t>Pre-OAuth: condividevi la password. Post-OAuth: token scoped + revocabile.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OAuth 2.0 — i 4 ruoli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Resource Owner</a:t>
            </a:r>
            <a:r>
              <a:rPr/>
              <a:t> = utente</a:t>
            </a:r>
          </a:p>
          <a:p>
            <a:pPr lvl="0" indent="-342900" marL="342900">
              <a:buAutoNum type="arabicPeriod"/>
            </a:pPr>
            <a:r>
              <a:rPr b="1"/>
              <a:t>Client</a:t>
            </a:r>
            <a:r>
              <a:rPr/>
              <a:t> = app che richiede accesso</a:t>
            </a:r>
          </a:p>
          <a:p>
            <a:pPr lvl="0" indent="-342900" marL="342900">
              <a:buAutoNum type="arabicPeriod"/>
            </a:pPr>
            <a:r>
              <a:rPr b="1"/>
              <a:t>Authorization Server</a:t>
            </a:r>
            <a:r>
              <a:rPr/>
              <a:t> = chi emette token (Google)</a:t>
            </a:r>
          </a:p>
          <a:p>
            <a:pPr lvl="0" indent="-342900" marL="342900">
              <a:buAutoNum type="arabicPeriod"/>
            </a:pPr>
            <a:r>
              <a:rPr b="1"/>
              <a:t>Resource Server</a:t>
            </a:r>
            <a:r>
              <a:rPr/>
              <a:t> = chi possiede i dati (Google API)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Authorization Code Flow + PKCE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Utente → click "Login con X"
       ← redirect ad Auth Server
Utente → consent
       → redirect a Client con CODE
Client → scambia CODE+verifier per ACCESS TOKEN
       → usa token su Resource Server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PKCE — Proof Key for Code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Estensione obbligatoria per app pubbliche (mobile, SPA).</a:t>
            </a:r>
          </a:p>
          <a:p>
            <a:pPr lvl="0" indent="-342900" marL="342900">
              <a:buAutoNum type="arabicPeriod"/>
            </a:pPr>
            <a:r>
              <a:rPr/>
              <a:t>Client genera </a:t>
            </a:r>
            <a:r>
              <a:rPr>
                <a:latin typeface="Courier"/>
              </a:rPr>
              <a:t>code_verifier</a:t>
            </a:r>
            <a:r>
              <a:rPr/>
              <a:t> (random)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code_challenge = SHA256(verifier)</a:t>
            </a:r>
          </a:p>
          <a:p>
            <a:pPr lvl="0" indent="-342900" marL="342900">
              <a:buAutoNum type="arabicPeriod"/>
            </a:pPr>
            <a:r>
              <a:rPr/>
              <a:t>Auth request include challenge</a:t>
            </a:r>
          </a:p>
          <a:p>
            <a:pPr lvl="0" indent="-342900" marL="342900">
              <a:buAutoNum type="arabicPeriod"/>
            </a:pPr>
            <a:r>
              <a:rPr/>
              <a:t>Token request include verifier</a:t>
            </a:r>
          </a:p>
          <a:p>
            <a:pPr lvl="0" indent="-342900" marL="342900">
              <a:buAutoNum type="arabicPeriod"/>
            </a:pPr>
            <a:r>
              <a:rPr/>
              <a:t>Server verifica match</a:t>
            </a:r>
          </a:p>
          <a:p>
            <a:pPr lvl="0" indent="0" marL="1270000">
              <a:buNone/>
            </a:pPr>
            <a:r>
              <a:rPr sz="2000"/>
              <a:t>Anche se attaccante intercetta il code, senza verifier non può scambiarlo.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OAuth — vulnerabilità comuni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Open redirect</a:t>
            </a:r>
            <a:r>
              <a:rPr/>
              <a:t> sul </a:t>
            </a:r>
            <a:r>
              <a:rPr>
                <a:latin typeface="Courier"/>
              </a:rPr>
              <a:t>redirect_uri</a:t>
            </a:r>
            <a:r>
              <a:rPr/>
              <a:t> non validato</a:t>
            </a:r>
          </a:p>
          <a:p>
            <a:pPr lvl="0"/>
            <a:r>
              <a:rPr b="1"/>
              <a:t>CSRF</a:t>
            </a:r>
            <a:r>
              <a:rPr/>
              <a:t> su authorization request → usa </a:t>
            </a:r>
            <a:r>
              <a:rPr>
                <a:latin typeface="Courier"/>
              </a:rPr>
              <a:t>state</a:t>
            </a:r>
          </a:p>
          <a:p>
            <a:pPr lvl="0"/>
            <a:r>
              <a:rPr b="1"/>
              <a:t>Code interception</a:t>
            </a:r>
            <a:r>
              <a:rPr/>
              <a:t> → usa PKCE</a:t>
            </a:r>
          </a:p>
          <a:p>
            <a:pPr lvl="0"/>
            <a:r>
              <a:rPr b="1"/>
              <a:t>Token in query string</a:t>
            </a:r>
            <a:r>
              <a:rPr/>
              <a:t> → finisce nei log/Referer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OpenID Connect (OIDC)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OAuth 2.0 dice “questo token può fare X”</a:t>
            </a:r>
          </a:p>
          <a:p>
            <a:pPr lvl="0"/>
            <a:r>
              <a:rPr/>
              <a:t>OIDC dice “+ l’utente è Y”</a:t>
            </a:r>
          </a:p>
          <a:p>
            <a:pPr lvl="0" indent="0" marL="0">
              <a:buNone/>
            </a:pPr>
            <a:r>
              <a:rPr/>
              <a:t>OIDC aggiunge </a:t>
            </a:r>
            <a:r>
              <a:rPr b="1"/>
              <a:t>ID Token</a:t>
            </a:r>
            <a:r>
              <a:rPr/>
              <a:t> (JWT con identità).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Access Token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 chi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Cosa contiene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Permessi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JWT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Spesso JWT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OIDC con authlib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authlib.integrations.flask_client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OAuth</a:t>
            </a:r>
            <a:br/>
            <a:br/>
            <a:r>
              <a:rPr>
                <a:latin typeface="Courier"/>
              </a:rPr>
              <a:t>oauth.register(</a:t>
            </a:r>
            <a:br/>
            <a:r>
              <a:rPr>
                <a:latin typeface="Courier"/>
              </a:rPr>
              <a:t>    name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"google"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client_id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...,</a:t>
            </a:r>
            <a:br/>
            <a:r>
              <a:rPr>
                <a:latin typeface="Courier"/>
              </a:rPr>
              <a:t>    client_secret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...,</a:t>
            </a:r>
            <a:br/>
            <a:r>
              <a:rPr>
                <a:latin typeface="Courier"/>
              </a:rPr>
              <a:t>    server_metadata_url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"https://accounts.google.com/.well-known/openid-configuration"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client_kwargs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{</a:t>
            </a:r>
            <a:r>
              <a:rPr>
                <a:solidFill>
                  <a:srgbClr val="4070A0"/>
                </a:solidFill>
                <a:latin typeface="Courier"/>
              </a:rPr>
              <a:t>"scope"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"openid email profile"</a:t>
            </a:r>
            <a:r>
              <a:rPr>
                <a:latin typeface="Courier"/>
              </a:rPr>
              <a:t>},</a:t>
            </a:r>
            <a:br/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server_metadata_url</a:t>
            </a:r>
            <a:r>
              <a:rPr/>
              <a:t> = discovery automatico.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SSO — Single Sign-On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Approccio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Quando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OIDC SSO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Moderno, web/mobile/API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SAML 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legacy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Kerberos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Intranet AD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Mai SSO custom</a:t>
            </a:r>
            <a:r>
              <a:rPr sz="2000"/>
              <a:t>. Usa Okta/Auth0/Keycloak/Authentik.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Refresh Token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Access token</a:t>
            </a:r>
            <a:r>
              <a:rPr/>
              <a:t>: breve (15-30 min) — JWT in </a:t>
            </a:r>
            <a:r>
              <a:rPr>
                <a:latin typeface="Courier"/>
              </a:rPr>
              <a:t>Authorization: Bearer</a:t>
            </a:r>
          </a:p>
          <a:p>
            <a:pPr lvl="0"/>
            <a:r>
              <a:rPr b="1"/>
              <a:t>Refresh token</a:t>
            </a:r>
            <a:r>
              <a:rPr/>
              <a:t>: lungo (7-30 gg) — opaco, in cookie HttpOnly</a:t>
            </a:r>
          </a:p>
          <a:p>
            <a:pPr lvl="0" indent="0" marL="0">
              <a:buNone/>
            </a:pPr>
            <a:r>
              <a:rPr/>
              <a:t>Quando access scade → client usa refresh per nuovo, </a:t>
            </a:r>
            <a:r>
              <a:rPr b="1"/>
              <a:t>senza login</a:t>
            </a:r>
            <a:r>
              <a:rPr/>
              <a:t>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Rotation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Client usa </a:t>
            </a:r>
            <a:r>
              <a:rPr>
                <a:latin typeface="Courier"/>
              </a:rPr>
              <a:t>refresh_v1</a:t>
            </a:r>
            <a:r>
              <a:rPr/>
              <a:t> per nuovo access</a:t>
            </a:r>
          </a:p>
          <a:p>
            <a:pPr lvl="0" indent="-342900" marL="342900">
              <a:buAutoNum type="arabicPeriod"/>
            </a:pPr>
            <a:r>
              <a:rPr/>
              <a:t>Server emette </a:t>
            </a:r>
            <a:r>
              <a:rPr>
                <a:latin typeface="Courier"/>
              </a:rPr>
              <a:t>access_v2</a:t>
            </a:r>
            <a:r>
              <a:rPr/>
              <a:t> + </a:t>
            </a:r>
            <a:r>
              <a:rPr>
                <a:latin typeface="Courier"/>
              </a:rPr>
              <a:t>refresh_v2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refresh_v1</a:t>
            </a:r>
            <a:r>
              <a:rPr/>
              <a:t> invalidato (status: USED)</a:t>
            </a:r>
          </a:p>
          <a:p>
            <a:pPr lvl="0" indent="0" marL="0">
              <a:buNone/>
            </a:pPr>
            <a:r>
              <a:rPr/>
              <a:t>Vantaggio: detection riuso.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Reuse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 </a:t>
            </a:r>
            <a:r>
              <a:rPr>
                <a:latin typeface="Courier"/>
              </a:rPr>
              <a:t>refresh_v1</a:t>
            </a:r>
            <a:r>
              <a:rPr/>
              <a:t> viene presentato </a:t>
            </a:r>
            <a:r>
              <a:rPr b="1"/>
              <a:t>due volte</a:t>
            </a:r>
            <a:r>
              <a:rPr/>
              <a:t>:</a:t>
            </a:r>
          </a:p>
          <a:p>
            <a:pPr lvl="0" indent="0" marL="0">
              <a:buNone/>
            </a:pPr>
            <a:r>
              <a:rPr/>
              <a:t>→ Furto rilevato. → </a:t>
            </a:r>
            <a:r>
              <a:rPr b="1"/>
              <a:t>Revoke intera famiglia</a:t>
            </a:r>
            <a:r>
              <a:rPr/>
              <a:t>. → Forza re-login utente.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CSRF — cos’è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L’attaccante fa eseguire </a:t>
            </a:r>
            <a:r>
              <a:rPr b="1"/>
              <a:t>al browser della vittima</a:t>
            </a:r>
            <a:r>
              <a:rPr/>
              <a:t> una richiesta verso un sito su cui è loggata, senza che lo sappia.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CSRF — esempio classico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&lt;!-- Su evil.com --&gt;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&lt;</a:t>
            </a:r>
            <a:r>
              <a:rPr b="1">
                <a:solidFill>
                  <a:srgbClr val="007020"/>
                </a:solidFill>
                <a:latin typeface="Courier"/>
              </a:rPr>
              <a:t>form</a:t>
            </a:r>
            <a:r>
              <a:rPr>
                <a:solidFill>
                  <a:srgbClr val="007020"/>
                </a:solidFill>
                <a:latin typeface="Courier"/>
              </a:rPr>
              <a:t> action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"https://bank.com/transfer"</a:t>
            </a:r>
            <a:r>
              <a:rPr>
                <a:solidFill>
                  <a:srgbClr val="007020"/>
                </a:solidFill>
                <a:latin typeface="Courier"/>
              </a:rPr>
              <a:t> method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"POST"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&lt;</a:t>
            </a:r>
            <a:r>
              <a:rPr b="1">
                <a:solidFill>
                  <a:srgbClr val="007020"/>
                </a:solidFill>
                <a:latin typeface="Courier"/>
              </a:rPr>
              <a:t>input</a:t>
            </a:r>
            <a:r>
              <a:rPr>
                <a:solidFill>
                  <a:srgbClr val="007020"/>
                </a:solidFill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"to"</a:t>
            </a:r>
            <a:r>
              <a:rPr>
                <a:solidFill>
                  <a:srgbClr val="007020"/>
                </a:solidFill>
                <a:latin typeface="Courier"/>
              </a:rPr>
              <a:t> value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"attacker"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&lt;</a:t>
            </a:r>
            <a:r>
              <a:rPr b="1">
                <a:solidFill>
                  <a:srgbClr val="007020"/>
                </a:solidFill>
                <a:latin typeface="Courier"/>
              </a:rPr>
              <a:t>input</a:t>
            </a:r>
            <a:r>
              <a:rPr>
                <a:solidFill>
                  <a:srgbClr val="007020"/>
                </a:solidFill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"amount"</a:t>
            </a:r>
            <a:r>
              <a:rPr>
                <a:solidFill>
                  <a:srgbClr val="007020"/>
                </a:solidFill>
                <a:latin typeface="Courier"/>
              </a:rPr>
              <a:t> value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"10000"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&lt;/</a:t>
            </a:r>
            <a:r>
              <a:rPr b="1">
                <a:solidFill>
                  <a:srgbClr val="007020"/>
                </a:solidFill>
                <a:latin typeface="Courier"/>
              </a:rPr>
              <a:t>form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&lt;</a:t>
            </a:r>
            <a:r>
              <a:rPr b="1">
                <a:solidFill>
                  <a:srgbClr val="007020"/>
                </a:solidFill>
                <a:latin typeface="Courier"/>
              </a:rPr>
              <a:t>script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  <a:r>
              <a:rPr>
                <a:solidFill>
                  <a:srgbClr val="008000"/>
                </a:solidFill>
                <a:latin typeface="Courier"/>
              </a:rPr>
              <a:t>document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forms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submit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solidFill>
                  <a:srgbClr val="902000"/>
                </a:solidFill>
                <a:latin typeface="Courier"/>
              </a:rPr>
              <a:t>&lt;/</a:t>
            </a:r>
            <a:r>
              <a:rPr b="1">
                <a:solidFill>
                  <a:srgbClr val="007020"/>
                </a:solidFill>
                <a:latin typeface="Courier"/>
              </a:rPr>
              <a:t>script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</a:p>
          <a:p>
            <a:pPr lvl="0" indent="0" marL="0">
              <a:buNone/>
            </a:pPr>
            <a:r>
              <a:rPr/>
              <a:t>Browser invia POST con cookie sessione bank → bonifico eseguito.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Difesa A — SameSite cookie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Set-Cookie: session=abc; SameSite=Lax; Secure; HttpOnly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Effetto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Strict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 cross-site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Lax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Solo top-level (default browser)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Sempre (richiede </a:t>
                      </a:r>
                      <a:r>
                        <a:rPr>
                          <a:latin typeface="Courier"/>
                        </a:rPr>
                        <a:t>Secure</a:t>
                      </a:r>
                      <a:r>
                        <a:rPr/>
                        <a:t>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Difesa B — CSRF Token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902000"/>
                </a:solidFill>
                <a:latin typeface="Courier"/>
              </a:rPr>
              <a:t>&lt;</a:t>
            </a:r>
            <a:r>
              <a:rPr b="1">
                <a:solidFill>
                  <a:srgbClr val="007020"/>
                </a:solidFill>
                <a:latin typeface="Courier"/>
              </a:rPr>
              <a:t>form</a:t>
            </a:r>
            <a:r>
              <a:rPr>
                <a:solidFill>
                  <a:srgbClr val="007020"/>
                </a:solidFill>
                <a:latin typeface="Courier"/>
              </a:rPr>
              <a:t> method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"POST"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&lt;</a:t>
            </a:r>
            <a:r>
              <a:rPr b="1">
                <a:solidFill>
                  <a:srgbClr val="007020"/>
                </a:solidFill>
                <a:latin typeface="Courier"/>
              </a:rPr>
              <a:t>input</a:t>
            </a:r>
            <a:r>
              <a:rPr>
                <a:solidFill>
                  <a:srgbClr val="007020"/>
                </a:solidFill>
                <a:latin typeface="Courier"/>
              </a:rPr>
              <a:t> type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"hidden"</a:t>
            </a:r>
            <a:r>
              <a:rPr>
                <a:solidFill>
                  <a:srgbClr val="007020"/>
                </a:solidFill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"csrf_token"</a:t>
            </a:r>
            <a:r>
              <a:rPr>
                <a:solidFill>
                  <a:srgbClr val="007020"/>
                </a:solidFill>
                <a:latin typeface="Courier"/>
              </a:rPr>
              <a:t> value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"r4ndom"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...</a:t>
            </a:r>
            <a:br/>
            <a:r>
              <a:rPr>
                <a:solidFill>
                  <a:srgbClr val="902000"/>
                </a:solidFill>
                <a:latin typeface="Courier"/>
              </a:rPr>
              <a:t>&lt;/</a:t>
            </a:r>
            <a:r>
              <a:rPr b="1">
                <a:solidFill>
                  <a:srgbClr val="007020"/>
                </a:solidFill>
                <a:latin typeface="Courier"/>
              </a:rPr>
              <a:t>form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</a:p>
          <a:p>
            <a:pPr lvl="0" indent="0" marL="0">
              <a:buNone/>
            </a:pPr>
            <a:r>
              <a:rPr/>
              <a:t>In Flask con Flask-WTF: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flask_wtf.csrf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CSRFProtect</a:t>
            </a:r>
            <a:br/>
            <a:r>
              <a:rPr>
                <a:latin typeface="Courier"/>
              </a:rPr>
              <a:t>csrf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CSRFProtect(app)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Difesa C — Double-submit cookie (per API)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Server emette </a:t>
            </a:r>
            <a:r>
              <a:rPr>
                <a:latin typeface="Courier"/>
              </a:rPr>
              <a:t>csrf_cookie</a:t>
            </a:r>
            <a:r>
              <a:rPr/>
              <a:t> (NON HttpOnly)</a:t>
            </a:r>
          </a:p>
          <a:p>
            <a:pPr lvl="0"/>
            <a:r>
              <a:rPr/>
              <a:t>Client legge cookie e lo manda anche come header </a:t>
            </a:r>
            <a:r>
              <a:rPr>
                <a:latin typeface="Courier"/>
              </a:rPr>
              <a:t>X-CSRF-Token</a:t>
            </a:r>
          </a:p>
          <a:p>
            <a:pPr lvl="0"/>
            <a:r>
              <a:rPr/>
              <a:t>Server: cookie == header?</a:t>
            </a:r>
          </a:p>
          <a:p>
            <a:pPr lvl="0" indent="0" marL="0">
              <a:buNone/>
            </a:pPr>
            <a:r>
              <a:rPr/>
              <a:t>Browser invia cookie automaticamente. JS evil.com non può leggere cookie bank.com → no header → blocco.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Difesa D — Custom request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fetch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"/api"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headers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{</a:t>
            </a:r>
            <a:r>
              <a:rPr>
                <a:solidFill>
                  <a:srgbClr val="4070A0"/>
                </a:solidFill>
                <a:latin typeface="Courier"/>
              </a:rPr>
              <a:t>"X-Requested-With"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"XMLHttpRequest"</a:t>
            </a:r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})</a:t>
            </a:r>
          </a:p>
          <a:p>
            <a:pPr lvl="0" indent="0" marL="0">
              <a:buNone/>
            </a:pPr>
            <a:r>
              <a:rPr/>
              <a:t>Browser blocca cross-site con header custom (CORS preflight).</a:t>
            </a:r>
          </a:p>
          <a:p>
            <a:pPr lvl="0" indent="0" marL="1270000">
              <a:buNone/>
            </a:pPr>
            <a:r>
              <a:rPr sz="2000"/>
              <a:t>Solo per API JSON, non form HTML.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Quando CSRF NON si applica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Endpoint solo GET (sicuri se non hanno side effect)</a:t>
            </a:r>
          </a:p>
          <a:p>
            <a:pPr lvl="0"/>
            <a:r>
              <a:rPr/>
              <a:t>Auth via header (Bearer JS) e NON via cookie</a:t>
            </a:r>
          </a:p>
          <a:p>
            <a:pPr lvl="0"/>
            <a:r>
              <a:rPr/>
              <a:t>API state-changing chiamate da app non-browser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 — JWT + Flask completo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Cosa includere:</a:t>
            </a:r>
          </a:p>
          <a:p>
            <a:pPr lvl="0"/>
            <a:r>
              <a:rPr/>
              <a:t>Login → access + refresh</a:t>
            </a:r>
          </a:p>
          <a:p>
            <a:pPr lvl="0"/>
            <a:r>
              <a:rPr/>
              <a:t>Endpoint protetto </a:t>
            </a:r>
            <a:r>
              <a:rPr>
                <a:latin typeface="Courier"/>
              </a:rPr>
              <a:t>@require_jwt</a:t>
            </a:r>
          </a:p>
          <a:p>
            <a:pPr lvl="0"/>
            <a:r>
              <a:rPr/>
              <a:t>Endpoint admin </a:t>
            </a:r>
            <a:r>
              <a:rPr>
                <a:latin typeface="Courier"/>
              </a:rPr>
              <a:t>@require_role("admin")</a:t>
            </a:r>
          </a:p>
          <a:p>
            <a:pPr lvl="0"/>
            <a:r>
              <a:rPr>
                <a:latin typeface="Courier"/>
              </a:rPr>
              <a:t>/refresh</a:t>
            </a:r>
            <a:r>
              <a:rPr/>
              <a:t> con rotation + reuse detection</a:t>
            </a:r>
          </a:p>
          <a:p>
            <a:pPr lvl="0" indent="0" marL="1270000">
              <a:buNone/>
            </a:pPr>
            <a:r>
              <a:rPr sz="2000"/>
              <a:t>Codice completo nel file </a:t>
            </a:r>
            <a:r>
              <a:rPr sz="2000">
                <a:latin typeface="Courier"/>
              </a:rPr>
              <a:t>02_lab/M_EXTRA_jwt_lab.py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attacchi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alg: none → pyjwt rifiuta (whitelist)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Token scaduto → 401 token expired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Refresh reuse → 401 + revoke famiglia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Audience mismatch → 401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Checklist JWT/OAuth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☐ </a:t>
            </a:r>
            <a:r>
              <a:rPr>
                <a:latin typeface="Courier"/>
              </a:rPr>
              <a:t>algorithms=["HS256"]</a:t>
            </a:r>
            <a:r>
              <a:rPr/>
              <a:t> whitelist</a:t>
            </a:r>
          </a:p>
          <a:p>
            <a:pPr lvl="0"/>
            <a:r>
              <a:rPr/>
              <a:t>☐ Mai </a:t>
            </a:r>
            <a:r>
              <a:rPr>
                <a:latin typeface="Courier"/>
              </a:rPr>
              <a:t>alg: none</a:t>
            </a:r>
          </a:p>
          <a:p>
            <a:pPr lvl="0"/>
            <a:r>
              <a:rPr/>
              <a:t>☐ Secret &gt;= 256 bit CSPRNG</a:t>
            </a:r>
          </a:p>
          <a:p>
            <a:pPr lvl="0"/>
            <a:r>
              <a:rPr/>
              <a:t>☐ </a:t>
            </a:r>
            <a:r>
              <a:rPr>
                <a:latin typeface="Courier"/>
              </a:rPr>
              <a:t>exp</a:t>
            </a:r>
            <a:r>
              <a:rPr/>
              <a:t> &lt; 1h</a:t>
            </a:r>
          </a:p>
          <a:p>
            <a:pPr lvl="0"/>
            <a:r>
              <a:rPr/>
              <a:t>☐ </a:t>
            </a:r>
            <a:r>
              <a:rPr>
                <a:latin typeface="Courier"/>
              </a:rPr>
              <a:t>aud</a:t>
            </a:r>
            <a:r>
              <a:rPr/>
              <a:t> e </a:t>
            </a:r>
            <a:r>
              <a:rPr>
                <a:latin typeface="Courier"/>
              </a:rPr>
              <a:t>iss</a:t>
            </a:r>
            <a:r>
              <a:rPr/>
              <a:t> validati</a:t>
            </a:r>
          </a:p>
          <a:p>
            <a:pPr lvl="0"/>
            <a:r>
              <a:rPr/>
              <a:t>☐ Refresh token con rotation</a:t>
            </a:r>
          </a:p>
          <a:p>
            <a:pPr lvl="0"/>
            <a:r>
              <a:rPr/>
              <a:t>☐ Reuse detection</a:t>
            </a:r>
          </a:p>
          <a:p>
            <a:pPr lvl="0"/>
            <a:r>
              <a:rPr/>
              <a:t>☐ JWT in cookie HttpOnly per webapp</a:t>
            </a:r>
          </a:p>
          <a:p>
            <a:pPr lvl="0"/>
            <a:r>
              <a:rPr/>
              <a:t>☐ </a:t>
            </a:r>
            <a:r>
              <a:rPr>
                <a:latin typeface="Courier"/>
              </a:rPr>
              <a:t>state</a:t>
            </a:r>
            <a:r>
              <a:rPr/>
              <a:t> su OAuth (anti-CSRF)</a:t>
            </a:r>
          </a:p>
          <a:p>
            <a:pPr lvl="0"/>
            <a:r>
              <a:rPr/>
              <a:t>☐ PKCE obbligatorio per app pubbliche</a:t>
            </a:r>
          </a:p>
          <a:p>
            <a:pPr lvl="0"/>
            <a:r>
              <a:rPr/>
              <a:t>☐ </a:t>
            </a:r>
            <a:r>
              <a:rPr>
                <a:latin typeface="Courier"/>
              </a:rPr>
              <a:t>redirect_uri</a:t>
            </a:r>
            <a:r>
              <a:rPr/>
              <a:t> whitelist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Checklist CSRF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☐ </a:t>
            </a:r>
            <a:r>
              <a:rPr>
                <a:latin typeface="Courier"/>
              </a:rPr>
              <a:t>SameSite=Lax</a:t>
            </a:r>
            <a:r>
              <a:rPr/>
              <a:t>/</a:t>
            </a:r>
            <a:r>
              <a:rPr>
                <a:latin typeface="Courier"/>
              </a:rPr>
              <a:t>Strict</a:t>
            </a:r>
            <a:r>
              <a:rPr/>
              <a:t> cookie sessione</a:t>
            </a:r>
          </a:p>
          <a:p>
            <a:pPr lvl="0"/>
            <a:r>
              <a:rPr/>
              <a:t>☐ CSRF token su POST/PUT/DELETE form</a:t>
            </a:r>
          </a:p>
          <a:p>
            <a:pPr lvl="0"/>
            <a:r>
              <a:rPr/>
              <a:t>☐ Token per-request (non globale)</a:t>
            </a:r>
          </a:p>
          <a:p>
            <a:pPr lvl="0"/>
            <a:r>
              <a:rPr/>
              <a:t>☐ Token NON in GET URL</a:t>
            </a:r>
          </a:p>
          <a:p>
            <a:pPr lvl="0"/>
            <a:r>
              <a:rPr/>
              <a:t>☐ Header custom per API JSON</a:t>
            </a:r>
          </a:p>
          <a:p>
            <a:pPr lvl="0"/>
            <a:r>
              <a:rPr/>
              <a:t>☐ State-changing solo POST/PUT/DELETE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Antipattern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JWT in localStorage ❌ Token vita eterna ❌ Stesso JWT per tutto (no aud) ❌ Refresh senza rotation ❌ OAuth senza </a:t>
            </a:r>
            <a:r>
              <a:rPr>
                <a:latin typeface="Courier"/>
              </a:rPr>
              <a:t>state</a:t>
            </a:r>
            <a:r>
              <a:rPr/>
              <a:t> ❌ </a:t>
            </a:r>
            <a:r>
              <a:rPr>
                <a:latin typeface="Courier"/>
              </a:rPr>
              <a:t>redirect_uri</a:t>
            </a:r>
            <a:r>
              <a:rPr/>
              <a:t> aperto ❌ CSRF token globale ❌ Auth solo lato client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Risorse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PortSwigger Academy — JWT</a:t>
            </a:r>
          </a:p>
          <a:p>
            <a:pPr lvl="0"/>
            <a:r>
              <a:rPr/>
              <a:t>OWASP JWT Cheat Sheet</a:t>
            </a:r>
          </a:p>
          <a:p>
            <a:pPr lvl="0"/>
            <a:r>
              <a:rPr/>
              <a:t>OAuth 2.0 Simplified (Aaron Parecki)</a:t>
            </a:r>
          </a:p>
          <a:p>
            <a:pPr lvl="0"/>
            <a:r>
              <a:rPr/>
              <a:t>NIST SP 800-63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Domande?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 — JWT, OAuth 2.0, SSO, CSRF</dc:title>
  <dc:creator>Ing. Alessandro Manneschi</dc:creator>
  <cp:keywords/>
  <dcterms:created xsi:type="dcterms:W3CDTF">2026-05-06T21:55:05Z</dcterms:created>
  <dcterms:modified xsi:type="dcterms:W3CDTF">2026-05-06T21:55:05Z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ITS Prodigi · ITS Empoli · SS4I</vt:lpwstr>
  </property>
  <property fmtid="{D5CDD505-2E9C-101B-9397-08002B2CF9AE}" pid="3" name="subtitle">
    <vt:lpwstr>Corso ITS Cybersecurity — Modulo Avanzato</vt:lpwstr>
  </property>
</Properties>
</file>