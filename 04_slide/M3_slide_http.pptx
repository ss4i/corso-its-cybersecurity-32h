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M3 — Protocollo HTTP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Corso ITS Cybersecurity (32h)</a:t>
            </a:r>
            <a:br/>
            <a:br/>
            <a:r>
              <a:rPr/>
              <a:t>Ing. Alessandro Manneschi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ITS Prodigi · ITS Empoli · SS4I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M3 — Protocollo HTTP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 ore — 2h teoria + 2h lab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Obiettivi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Modello richiesta/risposta</a:t>
            </a:r>
          </a:p>
          <a:p>
            <a:pPr lvl="0"/>
            <a:r>
              <a:rPr/>
              <a:t>URL, metodi, status code</a:t>
            </a:r>
          </a:p>
          <a:p>
            <a:pPr lvl="0"/>
            <a:r>
              <a:rPr b="1"/>
              <a:t>Header di sicurezza</a:t>
            </a:r>
            <a:r>
              <a:rPr/>
              <a:t> (cuore del modulo)</a:t>
            </a:r>
          </a:p>
          <a:p>
            <a:pPr lvl="0"/>
            <a:r>
              <a:rPr/>
              <a:t>Cookie sicuri (Secure, HttpOnly, SameSite)</a:t>
            </a:r>
          </a:p>
          <a:p>
            <a:pPr lvl="0"/>
            <a:r>
              <a:rPr/>
              <a:t>HTTPS/TLS in dettaglio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HTTP in 30 secondi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Stateless</a:t>
            </a:r>
            <a:r>
              <a:rPr/>
              <a:t>: ogni richiesta indipendente</a:t>
            </a:r>
          </a:p>
          <a:p>
            <a:pPr lvl="0"/>
            <a:r>
              <a:rPr b="1"/>
              <a:t>Plain text</a:t>
            </a:r>
            <a:r>
              <a:rPr/>
              <a:t> (in HTTP); cifrato (in HTTPS)</a:t>
            </a:r>
          </a:p>
          <a:p>
            <a:pPr lvl="0"/>
            <a:r>
              <a:rPr/>
              <a:t>Modello </a:t>
            </a:r>
            <a:r>
              <a:rPr b="1"/>
              <a:t>request/response</a:t>
            </a:r>
          </a:p>
          <a:p>
            <a:pPr lvl="0"/>
            <a:r>
              <a:rPr/>
              <a:t>Versioni: HTTP/1.0, 1.1, 2, 3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URL — anatomia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https://user:pwd@host:port/path?query#fragment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Pezzo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Esempio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schema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https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example.com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:443</a:t>
                      </a:r>
                      <a:r>
                        <a:rPr/>
                        <a:t> (default per HTTPS)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/api/users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?id=42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fragment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#sezione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Metodi HTTP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Idempotente?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Leggi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Sostituisci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Modifica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(in pratica)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DELETE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Cancella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Solo header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Status code 4xx — sottili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400</a:t>
            </a:r>
            <a:r>
              <a:rPr/>
              <a:t> — Bad Request (sintassi)</a:t>
            </a:r>
          </a:p>
          <a:p>
            <a:pPr lvl="0"/>
            <a:r>
              <a:rPr b="1"/>
              <a:t>401</a:t>
            </a:r>
            <a:r>
              <a:rPr/>
              <a:t> — Unauthorized = </a:t>
            </a:r>
            <a:r>
              <a:rPr b="1"/>
              <a:t>non autenticato</a:t>
            </a:r>
          </a:p>
          <a:p>
            <a:pPr lvl="0"/>
            <a:r>
              <a:rPr b="1"/>
              <a:t>403</a:t>
            </a:r>
            <a:r>
              <a:rPr/>
              <a:t> — Forbidden = autenticato ma </a:t>
            </a:r>
            <a:r>
              <a:rPr b="1"/>
              <a:t>non autorizzato</a:t>
            </a:r>
          </a:p>
          <a:p>
            <a:pPr lvl="0"/>
            <a:r>
              <a:rPr b="1"/>
              <a:t>404</a:t>
            </a:r>
            <a:r>
              <a:rPr/>
              <a:t> — Not Found</a:t>
            </a:r>
          </a:p>
          <a:p>
            <a:pPr lvl="0"/>
            <a:r>
              <a:rPr b="1"/>
              <a:t>410</a:t>
            </a:r>
            <a:r>
              <a:rPr/>
              <a:t> — Gone (rimosso volontariamente)</a:t>
            </a:r>
          </a:p>
          <a:p>
            <a:pPr lvl="0"/>
            <a:r>
              <a:rPr b="1"/>
              <a:t>422</a:t>
            </a:r>
            <a:r>
              <a:rPr/>
              <a:t> — Unprocessable Entity (semantica)</a:t>
            </a:r>
          </a:p>
          <a:p>
            <a:pPr lvl="0"/>
            <a:r>
              <a:rPr b="1"/>
              <a:t>429</a:t>
            </a:r>
            <a:r>
              <a:rPr/>
              <a:t> — Too Many Requests (rate limit)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Status code 5xx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500</a:t>
            </a:r>
            <a:r>
              <a:rPr/>
              <a:t> — Internal Error (NON rivelare stack trace!)</a:t>
            </a:r>
          </a:p>
          <a:p>
            <a:pPr lvl="0"/>
            <a:r>
              <a:rPr b="1"/>
              <a:t>502</a:t>
            </a:r>
            <a:r>
              <a:rPr/>
              <a:t> — Bad Gateway</a:t>
            </a:r>
          </a:p>
          <a:p>
            <a:pPr lvl="0"/>
            <a:r>
              <a:rPr b="1"/>
              <a:t>503</a:t>
            </a:r>
            <a:r>
              <a:rPr/>
              <a:t> — Service Unavailable (con </a:t>
            </a:r>
            <a:r>
              <a:rPr>
                <a:latin typeface="Courier"/>
              </a:rPr>
              <a:t>Retry-After</a:t>
            </a:r>
            <a:r>
              <a:rPr/>
              <a:t>)</a:t>
            </a:r>
          </a:p>
          <a:p>
            <a:pPr lvl="0"/>
            <a:r>
              <a:rPr b="1"/>
              <a:t>504</a:t>
            </a:r>
            <a:r>
              <a:rPr/>
              <a:t> — Gateway Timeout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6 header di sicurezza fondamentali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>
                <a:latin typeface="Courier"/>
              </a:rPr>
              <a:t>Strict-Transport-Security</a:t>
            </a:r>
            <a:r>
              <a:rPr/>
              <a:t> (HSTS)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Content-Security-Policy</a:t>
            </a:r>
            <a:r>
              <a:rPr/>
              <a:t> (CSP)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X-Frame-Options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X-Content-Type-Options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Referrer-Policy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Permissions-Policy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Strict-Transport-Security: max-age=31536000; includeSubDomains; preload</a:t>
            </a:r>
          </a:p>
          <a:p>
            <a:pPr lvl="0"/>
            <a:r>
              <a:rPr/>
              <a:t>Forza il browser a usare </a:t>
            </a:r>
            <a:r>
              <a:rPr b="1"/>
              <a:t>sempre HTTPS</a:t>
            </a:r>
          </a:p>
          <a:p>
            <a:pPr lvl="0"/>
            <a:r>
              <a:rPr/>
              <a:t>Difende da </a:t>
            </a:r>
            <a:r>
              <a:rPr b="1"/>
              <a:t>SSL stripping</a:t>
            </a:r>
          </a:p>
          <a:p>
            <a:pPr lvl="0"/>
            <a:r>
              <a:rPr>
                <a:latin typeface="Courier"/>
              </a:rPr>
              <a:t>preload</a:t>
            </a:r>
            <a:r>
              <a:rPr/>
              <a:t> = nella lista hardcoded dei browser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Content-Security-Policy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Content-Security-Policy:
  default-src 'self';
  script-src 'self' 'nonce-r4nd0m';
  frame-ancestors 'none'</a:t>
            </a:r>
          </a:p>
          <a:p>
            <a:pPr lvl="0"/>
            <a:r>
              <a:rPr/>
              <a:t>Limita da dove caricare risorse</a:t>
            </a:r>
          </a:p>
          <a:p>
            <a:pPr lvl="0"/>
            <a:r>
              <a:rPr b="1"/>
              <a:t>Difesa principale contro XSS</a:t>
            </a:r>
            <a:r>
              <a:rPr/>
              <a:t> (insieme all’escape)</a:t>
            </a:r>
          </a:p>
          <a:p>
            <a:pPr lvl="0"/>
            <a:r>
              <a:rPr/>
              <a:t>Mai </a:t>
            </a:r>
            <a:r>
              <a:rPr>
                <a:latin typeface="Courier"/>
              </a:rPr>
              <a:t>'unsafe-inline'</a:t>
            </a:r>
            <a:r>
              <a:rPr/>
              <a:t> o </a:t>
            </a:r>
            <a:r>
              <a:rPr>
                <a:latin typeface="Courier"/>
              </a:rPr>
              <a:t>'unsafe-eval'</a:t>
            </a:r>
            <a:r>
              <a:rPr/>
              <a:t> se evitabili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X-Frame-Options &amp; X-Content-Type-Options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X-Frame-Options: DENY
X-Content-Type-Options: nosniff</a:t>
            </a:r>
          </a:p>
          <a:p>
            <a:pPr lvl="0"/>
            <a:r>
              <a:rPr>
                <a:latin typeface="Courier"/>
              </a:rPr>
              <a:t>DENY</a:t>
            </a:r>
            <a:r>
              <a:rPr/>
              <a:t> blocca clickjacking</a:t>
            </a:r>
          </a:p>
          <a:p>
            <a:pPr lvl="0"/>
            <a:r>
              <a:rPr>
                <a:latin typeface="Courier"/>
              </a:rPr>
              <a:t>nosniff</a:t>
            </a:r>
            <a:r>
              <a:rPr/>
              <a:t> impedisce MIME sniffing del browser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Referrer-Policy &amp; Permissions-Policy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Referrer-Policy: strict-origin-when-cross-origin
Permissions-Policy: camera=(), microphone=(), geolocation=(self)</a:t>
            </a:r>
          </a:p>
          <a:p>
            <a:pPr lvl="0"/>
            <a:r>
              <a:rPr/>
              <a:t>Controlla cosa va nel </a:t>
            </a:r>
            <a:r>
              <a:rPr>
                <a:latin typeface="Courier"/>
              </a:rPr>
              <a:t>Referer</a:t>
            </a:r>
            <a:r>
              <a:rPr/>
              <a:t> cross-site</a:t>
            </a:r>
          </a:p>
          <a:p>
            <a:pPr lvl="0"/>
            <a:r>
              <a:rPr/>
              <a:t>Limita le API browser disponibili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Cookie sicuri — i 3 attributi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Set-Cookie: session=abc123;
            Secure;
            HttpOnly;
            SameSite=Lax</a:t>
            </a:r>
          </a:p>
          <a:p>
            <a:pPr lvl="0"/>
            <a:r>
              <a:rPr b="1"/>
              <a:t>Secure</a:t>
            </a:r>
            <a:r>
              <a:rPr/>
              <a:t>: solo su HTTPS</a:t>
            </a:r>
          </a:p>
          <a:p>
            <a:pPr lvl="0"/>
            <a:r>
              <a:rPr b="1"/>
              <a:t>HttpOnly</a:t>
            </a:r>
            <a:r>
              <a:rPr/>
              <a:t>: JS non può leggerlo (anti-XSS)</a:t>
            </a:r>
          </a:p>
          <a:p>
            <a:pPr lvl="0"/>
            <a:r>
              <a:rPr b="1"/>
              <a:t>SameSite</a:t>
            </a:r>
            <a:r>
              <a:rPr/>
              <a:t>: anti-CSRF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SameSite a fondo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Strict</a:t>
            </a:r>
            <a:r>
              <a:rPr/>
              <a:t>: mai cross-site (UX restrittiva)</a:t>
            </a:r>
          </a:p>
          <a:p>
            <a:pPr lvl="0"/>
            <a:r>
              <a:rPr b="1"/>
              <a:t>Lax</a:t>
            </a:r>
            <a:r>
              <a:rPr/>
              <a:t>: solo top-level cross-site (default moderno)</a:t>
            </a:r>
          </a:p>
          <a:p>
            <a:pPr lvl="0"/>
            <a:r>
              <a:rPr b="1"/>
              <a:t>None</a:t>
            </a:r>
            <a:r>
              <a:rPr/>
              <a:t>: sempre (richiede </a:t>
            </a:r>
            <a:r>
              <a:rPr>
                <a:latin typeface="Courier"/>
              </a:rPr>
              <a:t>Secure</a:t>
            </a:r>
            <a:r>
              <a:rPr/>
              <a:t>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Flask configurazione cookie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app.config.update(</a:t>
            </a:r>
            <a:br/>
            <a:r>
              <a:rPr>
                <a:latin typeface="Courier"/>
              </a:rPr>
              <a:t>    SESSION_COOKIE_SECURE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SESSION_COOKIE_HTTPONLY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SESSION_COOKIE_SAMESITE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"Lax"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PERMANENT_SESSION_LIFETIME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3600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HTTPS — cosa fa TLS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Cifratura</a:t>
            </a:r>
            <a:r>
              <a:rPr/>
              <a:t> (i messaggi non sono leggibili)</a:t>
            </a:r>
          </a:p>
          <a:p>
            <a:pPr lvl="0" indent="-342900" marL="342900">
              <a:buAutoNum type="arabicPeriod"/>
            </a:pPr>
            <a:r>
              <a:rPr b="1"/>
              <a:t>Autenticazione</a:t>
            </a:r>
            <a:r>
              <a:rPr/>
              <a:t> (verifica certificato server)</a:t>
            </a:r>
          </a:p>
          <a:p>
            <a:pPr lvl="0" indent="-342900" marL="342900">
              <a:buAutoNum type="arabicPeriod"/>
            </a:pPr>
            <a:r>
              <a:rPr b="1"/>
              <a:t>Integrità</a:t>
            </a:r>
            <a:r>
              <a:rPr/>
              <a:t> (modifica = rilevabile)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Versioni TLS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SSL 1/2/3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MORTO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TLS 1.0/1.1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Deprecato 2020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TLS 1.2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OK (standard)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TLS 1.3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Migliore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TLS handshake (1.2 semplificato)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Client → Server: ClientHello (versioni, cipher)
Server → Client: ServerHello + Certificate + KeyExchange
Client → Server: KeyExchange + ChangeCipherSpec + Finished
Server → Client: ChangeCipherSpec + Finished
═══ Canale cifrato ═══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Errori TLS comuni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Sintomo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Causa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 authority invalid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Self-signed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 expired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Scaduto, manca rinnovo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 mismatch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 non copre quel dominio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Mixed content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HTTPS che carica HTTP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Test: SSL Labs (ssllabs.com/ssltest)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Vulnerabilità protocollo (cenni)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HTTP request smuggling</a:t>
            </a:r>
            <a:r>
              <a:rPr/>
              <a:t>: front/back interpretano diversamente</a:t>
            </a:r>
          </a:p>
          <a:p>
            <a:pPr lvl="0"/>
            <a:r>
              <a:rPr b="1"/>
              <a:t>Response splitting</a:t>
            </a:r>
            <a:r>
              <a:rPr/>
              <a:t>: </a:t>
            </a:r>
            <a:r>
              <a:rPr>
                <a:latin typeface="Courier"/>
              </a:rPr>
              <a:t>\r\n</a:t>
            </a:r>
            <a:r>
              <a:rPr/>
              <a:t> injection in header</a:t>
            </a:r>
          </a:p>
          <a:p>
            <a:pPr lvl="0"/>
            <a:r>
              <a:rPr b="1"/>
              <a:t>Slowloris</a:t>
            </a:r>
            <a:r>
              <a:rPr/>
              <a:t>: connessioni lentissime → DoS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 M3.1 — DevTools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Apri DevTools (F12) → Network</a:t>
            </a:r>
          </a:p>
          <a:p>
            <a:pPr lvl="0"/>
            <a:r>
              <a:rPr/>
              <a:t>Visita 3 siti (github, google, esempio italiano)</a:t>
            </a:r>
          </a:p>
          <a:p>
            <a:pPr lvl="0"/>
            <a:r>
              <a:rPr/>
              <a:t>Annota: # richieste, status code, 3 header, cookie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 M3.2 — </a:t>
            </a:r>
            <a:r>
              <a:rPr>
                <a:latin typeface="Courier"/>
              </a:rPr>
              <a:t>requests</a:t>
            </a:r>
            <a:r>
              <a:rPr/>
              <a:t>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requests</a:t>
            </a:r>
            <a:br/>
            <a:r>
              <a:rPr>
                <a:latin typeface="Courier"/>
              </a:rPr>
              <a:t>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requests.get(</a:t>
            </a:r>
            <a:r>
              <a:rPr>
                <a:solidFill>
                  <a:srgbClr val="4070A0"/>
                </a:solidFill>
                <a:latin typeface="Courier"/>
              </a:rPr>
              <a:t>"https://github.com"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h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"Strict-Transport-Security"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</a:t>
            </a:r>
            <a:r>
              <a:rPr>
                <a:solidFill>
                  <a:srgbClr val="4070A0"/>
                </a:solidFill>
                <a:latin typeface="Courier"/>
              </a:rPr>
              <a:t>"Content-Security-Policy"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</a:t>
            </a:r>
            <a:r>
              <a:rPr>
                <a:solidFill>
                  <a:srgbClr val="4070A0"/>
                </a:solidFill>
                <a:latin typeface="Courier"/>
              </a:rPr>
              <a:t>"X-Frame-Options"</a:t>
            </a:r>
            <a:r>
              <a:rPr>
                <a:latin typeface="Courier"/>
              </a:rPr>
              <a:t>]: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(h, r.headers.get(h, </a:t>
            </a:r>
            <a:r>
              <a:rPr>
                <a:solidFill>
                  <a:srgbClr val="4070A0"/>
                </a:solidFill>
                <a:latin typeface="Courier"/>
              </a:rPr>
              <a:t>"MISS"</a:t>
            </a:r>
            <a:r>
              <a:rPr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Confronto: chi ne ha più? Chi ne ha meno?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Checklist HTTP per la tua webapp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☐ TLS 1.2+ (idealmente 1.3)</a:t>
            </a:r>
          </a:p>
          <a:p>
            <a:pPr lvl="0"/>
            <a:r>
              <a:rPr/>
              <a:t>☐ Cert valido, no self-signed</a:t>
            </a:r>
          </a:p>
          <a:p>
            <a:pPr lvl="0"/>
            <a:r>
              <a:rPr/>
              <a:t>☐ HSTS, CSP, XFO, XCTO, Referrer-Policy</a:t>
            </a:r>
          </a:p>
          <a:p>
            <a:pPr lvl="0"/>
            <a:r>
              <a:rPr/>
              <a:t>☐ Cookie Secure + HttpOnly + SameSite</a:t>
            </a:r>
          </a:p>
          <a:p>
            <a:pPr lvl="0"/>
            <a:r>
              <a:rPr/>
              <a:t>☐ </a:t>
            </a:r>
            <a:r>
              <a:rPr>
                <a:latin typeface="Courier"/>
              </a:rPr>
              <a:t>Server</a:t>
            </a:r>
            <a:r>
              <a:rPr/>
              <a:t> rimosso/oscurato</a:t>
            </a:r>
          </a:p>
          <a:p>
            <a:pPr lvl="0"/>
            <a:r>
              <a:rPr/>
              <a:t>☐ Error handler 500 generico</a:t>
            </a:r>
          </a:p>
          <a:p>
            <a:pPr lvl="0"/>
            <a:r>
              <a:rPr/>
              <a:t>☐ Rate limit + 429 + Retry-After</a:t>
            </a:r>
          </a:p>
          <a:p>
            <a:pPr lvl="0"/>
            <a:r>
              <a:rPr/>
              <a:t>☐ No password in query string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Verifica intermedia V1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Alla fine di M3 — 60 minuti, 100 punti Copre M0-M3</a:t>
            </a:r>
          </a:p>
          <a:p>
            <a:pPr lvl="0" indent="0" marL="0">
              <a:buNone/>
            </a:pPr>
            <a:r>
              <a:rPr/>
              <a:t>Cosa entra: - CIA, principi Secure Coding - Stack OSI, protocolli - HTTP, header, cookie - Mini esercizi pratici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Prossimo modulo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M4 — Quadro Normativo (2h)</a:t>
            </a:r>
          </a:p>
          <a:p>
            <a:pPr lvl="0" indent="0" marL="0">
              <a:buNone/>
            </a:pPr>
            <a:r>
              <a:rPr/>
              <a:t>Sai cosa fare tecnicamente. Ora vediamo cosa la legge </a:t>
            </a:r>
            <a:r>
              <a:rPr b="1"/>
              <a:t>richiede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— Protocollo HTTP</dc:title>
  <dc:creator>Ing. Alessandro Manneschi</dc:creator>
  <cp:keywords/>
  <dcterms:created xsi:type="dcterms:W3CDTF">2026-05-06T20:45:24Z</dcterms:created>
  <dcterms:modified xsi:type="dcterms:W3CDTF">2026-05-06T20:45:24Z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ITS Prodigi · ITS Empoli · SS4I</vt:lpwstr>
  </property>
  <property fmtid="{D5CDD505-2E9C-101B-9397-08002B2CF9AE}" pid="3" name="subtitle">
    <vt:lpwstr>Corso ITS Cybersecurity (32h)</vt:lpwstr>
  </property>
</Properties>
</file>