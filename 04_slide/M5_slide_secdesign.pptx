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2" Type="http://schemas.openxmlformats.org/officeDocument/2006/relationships/viewProps" Target="viewProps.xml" /><Relationship Id="rId4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4" Type="http://schemas.openxmlformats.org/officeDocument/2006/relationships/tableStyles" Target="tableStyles.xml" /><Relationship Id="rId4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M5 — Security &amp; Privacy by Design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Corso ITS Cybersecurity (32h)</a:t>
            </a:r>
            <a:br/>
            <a:br/>
            <a:r>
              <a:rPr/>
              <a:t>Ing. Alessandro Manneschi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ITS Prodigi · ITS Empoli · SS4I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M5 — Security &amp; Privacy by Design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 ore — 2h teoria + 1h workshop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Obiettivi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Security by Design (perché)</a:t>
            </a:r>
          </a:p>
          <a:p>
            <a:pPr lvl="0"/>
            <a:r>
              <a:rPr b="1"/>
              <a:t>STRIDE</a:t>
            </a:r>
            <a:r>
              <a:rPr/>
              <a:t> per threat modeling</a:t>
            </a:r>
          </a:p>
          <a:p>
            <a:pPr lvl="0"/>
            <a:r>
              <a:rPr/>
              <a:t>Data Flow Diagram + trust boundary</a:t>
            </a:r>
          </a:p>
          <a:p>
            <a:pPr lvl="0"/>
            <a:r>
              <a:rPr/>
              <a:t>7 principi di </a:t>
            </a:r>
            <a:r>
              <a:rPr b="1"/>
              <a:t>Cavoukian</a:t>
            </a:r>
            <a:r>
              <a:rPr/>
              <a:t> (Privacy by Design)</a:t>
            </a:r>
          </a:p>
          <a:p>
            <a:pPr lvl="0"/>
            <a:r>
              <a:rPr/>
              <a:t>Pseudonimizzazione vs Anonimizzazione</a:t>
            </a:r>
          </a:p>
          <a:p>
            <a:pPr lvl="0"/>
            <a:r>
              <a:rPr/>
              <a:t>DPIA in pillole</a:t>
            </a:r>
          </a:p>
          <a:p>
            <a:pPr lvl="0"/>
            <a:r>
              <a:rPr/>
              <a:t>Workshop su BancaPiccola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Due modi di costruire un’app:</a:t>
            </a:r>
          </a:p>
          <a:p>
            <a:pPr lvl="0" indent="0" marL="0">
              <a:buNone/>
            </a:pPr>
            <a:r>
              <a:rPr b="1"/>
              <a:t>A</a:t>
            </a:r>
            <a:r>
              <a:rPr/>
              <a:t>: requisiti → design → codice → test → spedisco → aggiungo sicurezza dopo </a:t>
            </a:r>
            <a:r>
              <a:rPr b="1"/>
              <a:t>B</a:t>
            </a:r>
            <a:r>
              <a:rPr/>
              <a:t>: requisiti </a:t>
            </a:r>
            <a:r>
              <a:rPr b="1"/>
              <a:t>+ sicurezza</a:t>
            </a:r>
            <a:r>
              <a:rPr/>
              <a:t> → threat modeling → codice sicuro → test sec → spedisco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Costo del fix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Quando si trova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Costo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Design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Testing/QA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Produzione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100×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“Costo” = soldi + tempo + reputazione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Shift Left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[Idea]──[Design]──[Code]──[Test]──[Deploy]──[Run]
   ↑       ↑
   └───────┴── shift left</a:t>
            </a:r>
          </a:p>
          <a:p>
            <a:pPr lvl="0" indent="0" marL="0">
              <a:buNone/>
            </a:pPr>
            <a:r>
              <a:rPr/>
              <a:t>Threat modeling, linter, static analysis, dependency scanning </a:t>
            </a:r>
            <a:r>
              <a:rPr b="1"/>
              <a:t>a sinistra</a:t>
            </a:r>
            <a:r>
              <a:rPr/>
              <a:t>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Caso Equifax 2017 (ricapitolazione)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Patch disponibile da 2 mesi → non installata</a:t>
            </a:r>
          </a:p>
          <a:p>
            <a:pPr lvl="0"/>
            <a:r>
              <a:rPr/>
              <a:t>147M record rubati → $1,4B di costo</a:t>
            </a:r>
          </a:p>
          <a:p>
            <a:pPr lvl="0"/>
            <a:r>
              <a:rPr b="1"/>
              <a:t>Decisioni a “design time”</a:t>
            </a:r>
            <a:r>
              <a:rPr/>
              <a:t> mancate:</a:t>
            </a:r>
          </a:p>
          <a:p>
            <a:pPr lvl="1"/>
            <a:r>
              <a:rPr/>
              <a:t>Inventario dipendenze</a:t>
            </a:r>
          </a:p>
          <a:p>
            <a:pPr lvl="1"/>
            <a:r>
              <a:rPr/>
              <a:t>Patching SLA</a:t>
            </a:r>
          </a:p>
          <a:p>
            <a:pPr lvl="1"/>
            <a:r>
              <a:rPr/>
              <a:t>Network segmentation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4 domande di Shostack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Cosa stiamo costruendo?</a:t>
            </a:r>
            <a:r>
              <a:rPr/>
              <a:t> (DFD)</a:t>
            </a:r>
          </a:p>
          <a:p>
            <a:pPr lvl="0" indent="-342900" marL="342900">
              <a:buAutoNum type="arabicPeriod"/>
            </a:pPr>
            <a:r>
              <a:rPr b="1"/>
              <a:t>Cosa può andare storto?</a:t>
            </a:r>
            <a:r>
              <a:rPr/>
              <a:t> (STRIDE)</a:t>
            </a:r>
          </a:p>
          <a:p>
            <a:pPr lvl="0" indent="-342900" marL="342900">
              <a:buAutoNum type="arabicPeriod"/>
            </a:pPr>
            <a:r>
              <a:rPr b="1"/>
              <a:t>Cosa facciamo a riguardo?</a:t>
            </a:r>
          </a:p>
          <a:p>
            <a:pPr lvl="0" indent="-342900" marL="342900">
              <a:buAutoNum type="arabicPeriod"/>
            </a:pPr>
            <a:r>
              <a:rPr b="1"/>
              <a:t>Abbiamo fatto un buon lavoro?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STRIDE — l’acronimo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Lettera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Proprietà violata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Spoofing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Authenticity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Tampering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Integrity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Repudiation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Non-repudiation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 Disclosure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Confidentiality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Availability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Elevation of Priv.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Authorization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 — Spoofing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Login con password rubata</a:t>
            </a:r>
          </a:p>
          <a:p>
            <a:pPr lvl="0"/>
            <a:r>
              <a:rPr/>
              <a:t>Phishing con dominio simile</a:t>
            </a:r>
          </a:p>
          <a:p>
            <a:pPr lvl="0"/>
            <a:r>
              <a:rPr/>
              <a:t>DNS spoofing</a:t>
            </a:r>
          </a:p>
          <a:p>
            <a:pPr lvl="0"/>
            <a:r>
              <a:rPr/>
              <a:t>Certificato contraffatto</a:t>
            </a:r>
          </a:p>
          <a:p>
            <a:pPr lvl="0" indent="0" marL="1270000">
              <a:buNone/>
            </a:pPr>
            <a:r>
              <a:rPr sz="2000"/>
              <a:t>Difese: MFA, mutual TLS, DNSSEC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 — Tampering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Modifica cookie</a:t>
            </a:r>
          </a:p>
          <a:p>
            <a:pPr lvl="0"/>
            <a:r>
              <a:rPr/>
              <a:t>Modifica importo POST</a:t>
            </a:r>
          </a:p>
          <a:p>
            <a:pPr lvl="0"/>
            <a:r>
              <a:rPr/>
              <a:t>Supply chain (codice modificato)</a:t>
            </a:r>
          </a:p>
          <a:p>
            <a:pPr lvl="0"/>
            <a:r>
              <a:rPr/>
              <a:t>Modifica file su disco</a:t>
            </a:r>
          </a:p>
          <a:p>
            <a:pPr lvl="0" indent="0" marL="1270000">
              <a:buNone/>
            </a:pPr>
            <a:r>
              <a:rPr sz="2000"/>
              <a:t>Difese: HMAC, integrity check, validation server-side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— Repudiation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“Non ho fatto io quel bonifico”</a:t>
            </a:r>
          </a:p>
          <a:p>
            <a:pPr lvl="0"/>
            <a:r>
              <a:rPr/>
              <a:t>“Non ho cancellato io”</a:t>
            </a:r>
          </a:p>
          <a:p>
            <a:pPr lvl="0"/>
            <a:r>
              <a:rPr/>
              <a:t>Modifica log per nascondere tracce</a:t>
            </a:r>
          </a:p>
          <a:p>
            <a:pPr lvl="0" indent="0" marL="1270000">
              <a:buNone/>
            </a:pPr>
            <a:r>
              <a:rPr sz="2000"/>
              <a:t>Difese: audit log immutabile, firme digitali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 — Information Disclosure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SQL Injection esfiltrazione</a:t>
            </a:r>
          </a:p>
          <a:p>
            <a:pPr lvl="0"/>
            <a:r>
              <a:rPr/>
              <a:t>Stack trace su errore</a:t>
            </a:r>
          </a:p>
          <a:p>
            <a:pPr lvl="0"/>
            <a:r>
              <a:rPr/>
              <a:t>Endpoint API con campi sensibili</a:t>
            </a:r>
          </a:p>
          <a:p>
            <a:pPr lvl="0"/>
            <a:r>
              <a:rPr/>
              <a:t>Backup esposto pubblicamente</a:t>
            </a:r>
          </a:p>
          <a:p>
            <a:pPr lvl="0" indent="0" marL="1270000">
              <a:buNone/>
            </a:pPr>
            <a:r>
              <a:rPr sz="2000"/>
              <a:t>Difese: TLS, error handling generico, least privilege dati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 — 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DDoS volumetrico</a:t>
            </a:r>
          </a:p>
          <a:p>
            <a:pPr lvl="0"/>
            <a:r>
              <a:rPr/>
              <a:t>Slowloris</a:t>
            </a:r>
          </a:p>
          <a:p>
            <a:pPr lvl="0"/>
            <a:r>
              <a:rPr/>
              <a:t>Algoritmo O(n²) su input grande</a:t>
            </a:r>
          </a:p>
          <a:p>
            <a:pPr lvl="0"/>
            <a:r>
              <a:rPr/>
              <a:t>Fill filesystem</a:t>
            </a:r>
          </a:p>
          <a:p>
            <a:pPr lvl="0" indent="0" marL="1270000">
              <a:buNone/>
            </a:pPr>
            <a:r>
              <a:rPr sz="2000"/>
              <a:t>Difese: rate limit, WAF, timeout, quote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 — Elevation of Privilege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IDOR (utente normale → admin)</a:t>
            </a:r>
          </a:p>
          <a:p>
            <a:pPr lvl="0"/>
            <a:r>
              <a:rPr/>
              <a:t>Bypass authz</a:t>
            </a:r>
          </a:p>
          <a:p>
            <a:pPr lvl="0"/>
            <a:r>
              <a:rPr/>
              <a:t>SQLi → privilege escalation</a:t>
            </a:r>
          </a:p>
          <a:p>
            <a:pPr lvl="0"/>
            <a:r>
              <a:rPr/>
              <a:t>Vuln nel kernel</a:t>
            </a:r>
          </a:p>
          <a:p>
            <a:pPr lvl="0" indent="0" marL="1270000">
              <a:buNone/>
            </a:pPr>
            <a:r>
              <a:rPr sz="2000"/>
              <a:t>Difese: least privilege, authz su ogni endpoint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STRIDE per elemento (DFD)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/>
                <a:gridCol w="1168400"/>
                <a:gridCol w="1168400"/>
                <a:gridCol w="1168400"/>
                <a:gridCol w="1168400"/>
                <a:gridCol w="1168400"/>
                <a:gridCol w="1168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Entità esterna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Datastore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Flusso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Flow Diagram — i 4 simboli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Simbolo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Cosa rappresenta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 Rettangolo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Entità esterna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○ Cerchio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═ Doppia linea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Datastore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→ Freccia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Flusso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Trust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Linea immaginaria che separa zone con livelli di fiducia diversi</a:t>
            </a:r>
          </a:p>
          <a:p>
            <a:pPr lvl="0" indent="0" marL="0">
              <a:buNone/>
            </a:pPr>
            <a:r>
              <a:rPr/>
              <a:t>Esempi: - Internet ↔ tuo server - Webapp ↔ DB - Browser ↔ JavaScript (untrusted!) - Container ↔ host</a:t>
            </a:r>
          </a:p>
          <a:p>
            <a:pPr lvl="0" indent="0" marL="1270000">
              <a:buNone/>
            </a:pPr>
            <a:r>
              <a:rPr sz="2000"/>
              <a:t>Ogni boundary attraversato = opportunità di attacco.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DFD esempio — login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[Utente] ──HTTP──► [Login] ──SQL──► [DB users]
                      │
══ Boundary: Internet ══
                      │
                      ▼
                 [Auth check] ──► [DB sessions]
                                  ══ Boundary: server↔DB ══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Privacy by Design — Ann Cavoukian (2009)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 principi → recepiti da GDPR Art. 25.</a:t>
            </a:r>
          </a:p>
          <a:p>
            <a:pPr lvl="0" indent="-342900" marL="342900">
              <a:buAutoNum type="arabicPeriod"/>
            </a:pPr>
            <a:r>
              <a:rPr/>
              <a:t>Proactive not Reactive</a:t>
            </a:r>
          </a:p>
          <a:p>
            <a:pPr lvl="0" indent="-342900" marL="342900">
              <a:buAutoNum type="arabicPeriod"/>
            </a:pPr>
            <a:r>
              <a:rPr/>
              <a:t>Privacy as Default</a:t>
            </a:r>
          </a:p>
          <a:p>
            <a:pPr lvl="0" indent="-342900" marL="342900">
              <a:buAutoNum type="arabicPeriod"/>
            </a:pPr>
            <a:r>
              <a:rPr/>
              <a:t>Embedded into Design</a:t>
            </a:r>
          </a:p>
          <a:p>
            <a:pPr lvl="0" indent="-342900" marL="342900">
              <a:buAutoNum type="arabicPeriod"/>
            </a:pPr>
            <a:r>
              <a:rPr/>
              <a:t>Full Functionality (no zero-sum)</a:t>
            </a:r>
          </a:p>
          <a:p>
            <a:pPr lvl="0" indent="-342900" marL="342900">
              <a:buAutoNum type="arabicPeriod"/>
            </a:pPr>
            <a:r>
              <a:rPr/>
              <a:t>End-to-End Security</a:t>
            </a:r>
          </a:p>
          <a:p>
            <a:pPr lvl="0" indent="-342900" marL="342900">
              <a:buAutoNum type="arabicPeriod"/>
            </a:pPr>
            <a:r>
              <a:rPr/>
              <a:t>Visibility / Transparency</a:t>
            </a:r>
          </a:p>
          <a:p>
            <a:pPr lvl="0" indent="-342900" marL="342900">
              <a:buAutoNum type="arabicPeriod"/>
            </a:pPr>
            <a:r>
              <a:rPr/>
              <a:t>User-Centric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 7 principi spiegati (1-3)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Anticipare</a:t>
            </a:r>
            <a:r>
              <a:rPr/>
              <a:t> problemi privacy invece di reagire</a:t>
            </a:r>
          </a:p>
          <a:p>
            <a:pPr lvl="0" indent="-342900" marL="342900">
              <a:buAutoNum type="arabicPeriod"/>
            </a:pPr>
            <a:r>
              <a:rPr/>
              <a:t>Default </a:t>
            </a:r>
            <a:r>
              <a:rPr b="1"/>
              <a:t>più protettivi</a:t>
            </a:r>
            <a:r>
              <a:rPr/>
              <a:t> (utente non fa nulla → protetto al massimo)</a:t>
            </a:r>
          </a:p>
          <a:p>
            <a:pPr lvl="0" indent="-342900" marL="342900">
              <a:buAutoNum type="arabicPeriod"/>
            </a:pPr>
            <a:r>
              <a:rPr/>
              <a:t>Privacy </a:t>
            </a:r>
            <a:r>
              <a:rPr b="1"/>
              <a:t>dentro</a:t>
            </a:r>
            <a:r>
              <a:rPr/>
              <a:t> l’architettura (non aggiunta dopo)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 7 principi (4-7)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startAt="4" type="arabicPeriod"/>
            </a:pPr>
            <a:r>
              <a:rPr b="1"/>
              <a:t>Non zero-sum</a:t>
            </a:r>
            <a:r>
              <a:rPr/>
              <a:t>: privacy + funzionalità insieme</a:t>
            </a:r>
          </a:p>
          <a:p>
            <a:pPr lvl="0" indent="-342900" marL="342900">
              <a:buAutoNum startAt="4" type="arabicPeriod"/>
            </a:pPr>
            <a:r>
              <a:rPr b="1"/>
              <a:t>Tutto il ciclo</a:t>
            </a:r>
            <a:r>
              <a:rPr/>
              <a:t>: raccolta → uso → archivio → cancellazione</a:t>
            </a:r>
          </a:p>
          <a:p>
            <a:pPr lvl="0" indent="-342900" marL="342900">
              <a:buAutoNum startAt="4" type="arabicPeriod"/>
            </a:pPr>
            <a:r>
              <a:rPr b="1"/>
              <a:t>Trasparenza</a:t>
            </a:r>
            <a:r>
              <a:rPr/>
              <a:t>: utente capisce cosa fai con i suoi dati</a:t>
            </a:r>
          </a:p>
          <a:p>
            <a:pPr lvl="0" indent="-342900" marL="342900">
              <a:buAutoNum startAt="4" type="arabicPeriod"/>
            </a:pPr>
            <a:r>
              <a:rPr b="1"/>
              <a:t>User-centric</a:t>
            </a:r>
            <a:r>
              <a:rPr/>
              <a:t>: dati dell’utente, controllo dell’utente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Minimization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GDPR Art. 5(1)(c): solo i dati </a:t>
            </a:r>
            <a:r>
              <a:rPr b="1"/>
              <a:t>necessari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Form maximalist (sbagliato): - Nome, cognome, email, telefono, indirizzo, data di nascita, sesso, professione, reddito…</a:t>
            </a:r>
          </a:p>
          <a:p>
            <a:pPr lvl="0" indent="0" marL="0">
              <a:buNone/>
            </a:pPr>
            <a:r>
              <a:rPr/>
              <a:t>Form minimalist (giusto): - Email - (opzionale) Nome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Domande a design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 ogni campo: 1. Mi serve davvero? 2. Mi serve in chiaro o basta hash? 3. Mi serve per quanto tempo? 4. A chi serve?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Tecniche di minimizzazione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Email → hash dell’email</a:t>
            </a:r>
          </a:p>
          <a:p>
            <a:pPr lvl="0"/>
            <a:r>
              <a:rPr/>
              <a:t>Data di nascita → fascia d’età</a:t>
            </a:r>
          </a:p>
          <a:p>
            <a:pPr lvl="0"/>
            <a:r>
              <a:rPr/>
              <a:t>Indirizzo → CAP</a:t>
            </a:r>
          </a:p>
          <a:p>
            <a:pPr lvl="0"/>
            <a:r>
              <a:rPr/>
              <a:t>Foto → embedding ML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Pseudonimizzazione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Identità sostituita da pseudonimo</a:t>
            </a:r>
          </a:p>
          <a:p>
            <a:pPr lvl="0"/>
            <a:r>
              <a:rPr b="1"/>
              <a:t>Mappa di reidentificazione</a:t>
            </a:r>
            <a:r>
              <a:rPr/>
              <a:t> separata</a:t>
            </a:r>
          </a:p>
          <a:p>
            <a:pPr lvl="0"/>
            <a:r>
              <a:rPr b="1"/>
              <a:t>Reversibile</a:t>
            </a:r>
          </a:p>
          <a:p>
            <a:pPr lvl="0"/>
            <a:r>
              <a:rPr/>
              <a:t>⚠️ </a:t>
            </a:r>
            <a:r>
              <a:rPr b="1"/>
              <a:t>GDPR si applica ancora</a:t>
            </a:r>
          </a:p>
          <a:p>
            <a:pPr lvl="0" indent="0" marL="0">
              <a:buNone/>
            </a:pPr>
            <a:r>
              <a:rPr/>
              <a:t>Esempio: tabella ordini con </a:t>
            </a:r>
            <a:r>
              <a:rPr>
                <a:latin typeface="Courier"/>
              </a:rPr>
              <a:t>user_id=7438</a:t>
            </a:r>
            <a:r>
              <a:rPr/>
              <a:t>, mappa </a:t>
            </a:r>
            <a:r>
              <a:rPr>
                <a:latin typeface="Courier"/>
              </a:rPr>
              <a:t>(user_id, email)</a:t>
            </a:r>
            <a:r>
              <a:rPr/>
              <a:t> separata.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Anonimizzazione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Irreversibile</a:t>
            </a:r>
            <a:r>
              <a:rPr/>
              <a:t> anche con dati esterni</a:t>
            </a:r>
          </a:p>
          <a:p>
            <a:pPr lvl="0"/>
            <a:r>
              <a:rPr/>
              <a:t>✅ GDPR </a:t>
            </a:r>
            <a:r>
              <a:rPr b="1"/>
              <a:t>non</a:t>
            </a:r>
            <a:r>
              <a:rPr/>
              <a:t> si applica</a:t>
            </a:r>
          </a:p>
          <a:p>
            <a:pPr lvl="0"/>
            <a:r>
              <a:rPr/>
              <a:t>🔥 Molto più difficile di quanto sembri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trappola “credo di aver anonimizzato”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Netflix Prize 2006</a:t>
            </a:r>
            <a:r>
              <a:rPr/>
              <a:t>: dataset “anonimizzato” reidentificato incrociando con IMDb</a:t>
            </a:r>
          </a:p>
          <a:p>
            <a:pPr lvl="0"/>
            <a:r>
              <a:rPr>
                <a:latin typeface="Courier"/>
              </a:rPr>
              <a:t>hash(email)</a:t>
            </a:r>
            <a:r>
              <a:rPr/>
              <a:t> </a:t>
            </a:r>
            <a:r>
              <a:rPr b="1"/>
              <a:t>non</a:t>
            </a:r>
            <a:r>
              <a:rPr/>
              <a:t> è anonimizzazione (dizionario)</a:t>
            </a:r>
          </a:p>
          <a:p>
            <a:pPr lvl="0"/>
            <a:r>
              <a:rPr/>
              <a:t>k-anonymity: ogni individuo simile ad almeno k-1 altri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Pseudo vs Anon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Pseudo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Reversibile?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GDPR?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Difficoltà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Alta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Casi tipici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Riduzione rischio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Pubblicazione stat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Nel 90% dei casi quello che ti serve è </a:t>
            </a:r>
            <a:r>
              <a:rPr sz="2000" b="1"/>
              <a:t>pseudo</a:t>
            </a:r>
            <a:r>
              <a:rPr sz="2000"/>
              <a:t>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DPIA — quando è obbligatoria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GDPR Art. 35: - Profilazione automatizzata con effetti giuridici - Categorie particolari su </a:t>
            </a:r>
            <a:r>
              <a:rPr b="1"/>
              <a:t>larga scala</a:t>
            </a:r>
            <a:r>
              <a:rPr/>
              <a:t> - Sorveglianza sistematica spazi pubblici - Lista nera del Garante (es. riconoscimento facciale)</a:t>
            </a:r>
          </a:p>
          <a:p>
            <a:pPr lvl="0" indent="0" marL="1270000">
              <a:buNone/>
            </a:pPr>
            <a:r>
              <a:rPr sz="2000"/>
              <a:t>In dubbio? Falla.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DPIA — template minimo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Descrizione trattamento</a:t>
            </a:r>
          </a:p>
          <a:p>
            <a:pPr lvl="0" indent="-342900" marL="342900">
              <a:buAutoNum type="arabicPeriod"/>
            </a:pPr>
            <a:r>
              <a:rPr/>
              <a:t>Necessità e proporzionalità</a:t>
            </a:r>
          </a:p>
          <a:p>
            <a:pPr lvl="0" indent="-342900" marL="342900">
              <a:buAutoNum type="arabicPeriod"/>
            </a:pPr>
            <a:r>
              <a:rPr/>
              <a:t>Rischi per gli interessati (probabilità × impatto)</a:t>
            </a:r>
          </a:p>
          <a:p>
            <a:pPr lvl="0" indent="-342900" marL="342900">
              <a:buAutoNum type="arabicPeriod"/>
            </a:pPr>
            <a:r>
              <a:rPr/>
              <a:t>Misure di sicurezza</a:t>
            </a:r>
          </a:p>
          <a:p>
            <a:pPr lvl="0" indent="-342900" marL="342900">
              <a:buAutoNum type="arabicPeriod"/>
            </a:pPr>
            <a:r>
              <a:rPr/>
              <a:t>Conclusione + firma DPO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Workshop — STRIDE su BancaPiccola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gruppi di 3, su BancaPiccola:</a:t>
            </a:r>
          </a:p>
          <a:p>
            <a:pPr lvl="0" indent="-342900" marL="342900">
              <a:buAutoNum type="arabicPeriod"/>
            </a:pPr>
            <a:r>
              <a:rPr/>
              <a:t>Disegnate DFD (15 min)</a:t>
            </a:r>
          </a:p>
          <a:p>
            <a:pPr lvl="0" indent="-342900" marL="342900">
              <a:buAutoNum type="arabicPeriod"/>
            </a:pPr>
            <a:r>
              <a:rPr/>
              <a:t>Almeno 15 minacce STRIDE (25 min)</a:t>
            </a:r>
          </a:p>
          <a:p>
            <a:pPr lvl="0" indent="-342900" marL="342900">
              <a:buAutoNum type="arabicPeriod"/>
            </a:pPr>
            <a:r>
              <a:rPr/>
              <a:t>Top 3 per rischio (5 min)</a:t>
            </a:r>
          </a:p>
          <a:p>
            <a:pPr lvl="0" indent="-342900" marL="342900">
              <a:buAutoNum type="arabicPeriod"/>
            </a:pPr>
            <a:r>
              <a:rPr/>
              <a:t>Discussione collettiva (15 min)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Esempio minacce attese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Difesa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MFA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SQLi → query parametrizzata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Lista fatture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IDOR → ownership check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Backup non cifrato → cifrare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Flusso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Sniffing → TLS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Verifica intermedia V2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Alla fine di M5 — 50 minuti, 100 punti Copre M4 + M5</a:t>
            </a:r>
          </a:p>
          <a:p>
            <a:pPr lvl="0" indent="0" marL="0">
              <a:buNone/>
            </a:pPr>
            <a:r>
              <a:rPr/>
              <a:t>Cosa entra: - GDPR articoli, NIS 2 obblighi, CRA - STRIDE applicato a scenario - Pseudonimizzazione/anonimizzazione - Caso DPIA (riconoscimento facciale)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Errori da evitare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❌ Threat modeling come “esercizio di nomenclatura”</a:t>
            </a:r>
          </a:p>
          <a:p>
            <a:pPr lvl="0"/>
            <a:r>
              <a:rPr/>
              <a:t>❌ Confondere security e privacy</a:t>
            </a:r>
          </a:p>
          <a:p>
            <a:pPr lvl="0"/>
            <a:r>
              <a:rPr/>
              <a:t>❌ “MD5 sull’email” = anonimizzazione (no)</a:t>
            </a:r>
          </a:p>
          <a:p>
            <a:pPr lvl="0"/>
            <a:r>
              <a:rPr/>
              <a:t>❌ Saltare DPIA pensando “burocrazia”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Prossimo modulo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M6 — Sicurezza delle Applicazioni Web (9h)</a:t>
            </a:r>
          </a:p>
          <a:p>
            <a:pPr lvl="0" indent="0" marL="0">
              <a:buNone/>
            </a:pPr>
            <a:r>
              <a:rPr/>
              <a:t>Adesso che sai </a:t>
            </a:r>
            <a:r>
              <a:rPr b="1"/>
              <a:t>pensare</a:t>
            </a:r>
            <a:r>
              <a:rPr/>
              <a:t> sicuro, scriviamo codice sicuro.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M5 — Security &amp; Privacy by Design</dc:title>
  <dc:creator>Ing. Alessandro Manneschi</dc:creator>
  <cp:keywords/>
  <dcterms:created xsi:type="dcterms:W3CDTF">2026-05-06T20:45:24Z</dcterms:created>
  <dcterms:modified xsi:type="dcterms:W3CDTF">2026-05-06T20:45:24Z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ITS Prodigi · ITS Empoli · SS4I</vt:lpwstr>
  </property>
  <property fmtid="{D5CDD505-2E9C-101B-9397-08002B2CF9AE}" pid="3" name="subtitle">
    <vt:lpwstr>Corso ITS Cybersecurity (32h)</vt:lpwstr>
  </property>
</Properties>
</file>